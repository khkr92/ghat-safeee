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fadaee-f582-98fc-b36b-736225d7fd55}">
          <p14:sldIdLst>
            <p14:sldId id="256"/>
            <p14:sldId id="257"/>
          </p14:sldIdLst>
        </p14:section>
        <p14:section name="Problem" id="{ae0b6ba1-815b-ba82-0135-8566023f5dc2}">
          <p14:sldIdLst>
            <p14:sldId id="258"/>
            <p14:sldId id="259"/>
          </p14:sldIdLst>
        </p14:section>
        <p14:section name="Solution" id="{c27609f2-d8cf-ea17-f779-3bca743317fb}">
          <p14:sldIdLst>
            <p14:sldId id="260"/>
            <p14:sldId id="261"/>
            <p14:sldId id="262"/>
          </p14:sldIdLst>
        </p14:section>
        <p14:section name="Engineering" id="{1732c02a-f6a2-d104-3f5e-d041d37c265b}">
          <p14:sldIdLst>
            <p14:sldId id="263"/>
            <p14:sldId id="264"/>
          </p14:sldIdLst>
        </p14:section>
        <p14:section name="Prototype" id="{77c42238-96ed-ee43-fa52-fc602ddbda8a}">
          <p14:sldIdLst>
            <p14:sldId id="265"/>
            <p14:sldId id="266"/>
            <p14:sldId id="267"/>
          </p14:sldIdLst>
        </p14:section>
        <p14:section name="Implementation" id="{410c8b67-2959-56bf-e4b1-8d8c5e38c5a2}">
          <p14:sldIdLst>
            <p14:sldId id="268"/>
            <p14:sldId id="269"/>
            <p14:sldId id="270"/>
          </p14:sldIdLst>
        </p14:section>
        <p14:section name="Close" id="{fade392d-7690-66f0-ea10-19d8160c5df7}">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1F23"/>
                </a:solidFill>
                <a:latin typeface="+mn-lt"/>
              </a:defRPr>
            </a:pPr>
            <a:r>
              <a:rPr sz="1400" b="0" i="0" u="none" strike="noStrike">
                <a:solidFill>
                  <a:srgbClr val="1C1F23"/>
                </a:solidFill>
                <a:latin typeface="+mn-lt"/>
              </a:rPr>
              <a:t>Share of opposing meetings in the bend that were near-misses</a:t>
            </a:r>
          </a:p>
        </c:rich>
      </c:tx>
      <c:layout/>
      <c:overlay val="0"/>
    </c:title>
    <c:autoTitleDeleted val="0"/>
    <c:plotArea>
      <c:layout/>
      <c:barChart>
        <c:barDir val="bar"/>
        <c:grouping val="clustered"/>
        <c:varyColors val="0"/>
        <c:ser>
          <c:idx val="0"/>
          <c:order val="0"/>
          <c:tx>
            <c:strRef>
              <c:f>Sheet1!$B$1</c:f>
              <c:strCache>
                <c:ptCount val="1"/>
                <c:pt idx="0">
                  <c:v>Near-miss rate (%)</c:v>
                </c:pt>
              </c:strCache>
            </c:strRef>
          </c:tx>
          <c:spPr>
            <a:solidFill>
              <a:srgbClr val="C8233A"/>
            </a:solidFill>
            <a:effectLst/>
          </c:spPr>
          <c:invertIfNegative val="0"/>
          <c:dLbls>
            <c:numFmt formatCode="0.0&quot;%&quot;" sourceLinked="0"/>
            <c:txPr>
              <a:bodyPr/>
              <a:lstStyle/>
              <a:p>
                <a:pPr>
                  <a:defRPr b="0" i="0" strike="noStrike" sz="1300" u="none">
                    <a:solidFill>
                      <a:srgbClr val="1C1F23"/>
                    </a:solidFill>
                    <a:latin typeface="+mn-lt"/>
                  </a:defRPr>
                </a:pPr>
              </a:p>
            </c:txPr>
            <c:showLegendKey val="0"/>
            <c:showVal val="1"/>
            <c:showCatName val="0"/>
            <c:showSerName val="0"/>
            <c:showPercent val="0"/>
            <c:showBubbleSize val="0"/>
            <c:showLeaderLines val="0"/>
          </c:dLbls>
          <c:dPt>
            <c:idx val="0"/>
            <c:invertIfNegative val="0"/>
            <c:bubble3D val="0"/>
            <c:spPr>
              <a:solidFill>
                <a:srgbClr val="C8233A"/>
              </a:solidFill>
              <a:effectLst/>
            </c:spPr>
          </c:dPt>
          <c:dPt>
            <c:idx val="1"/>
            <c:invertIfNegative val="0"/>
            <c:bubble3D val="0"/>
            <c:spPr>
              <a:solidFill>
                <a:srgbClr val="F2A900"/>
              </a:solidFill>
              <a:effectLst/>
            </c:spPr>
          </c:dPt>
          <c:dPt>
            <c:idx val="2"/>
            <c:invertIfNegative val="0"/>
            <c:bubble3D val="0"/>
            <c:spPr>
              <a:solidFill>
                <a:srgbClr val="F2A900"/>
              </a:solidFill>
              <a:effectLst/>
            </c:spPr>
          </c:dPt>
          <c:dPt>
            <c:idx val="3"/>
            <c:invertIfNegative val="0"/>
            <c:bubble3D val="0"/>
            <c:spPr>
              <a:solidFill>
                <a:srgbClr val="1E8A4C"/>
              </a:solidFill>
              <a:effectLst/>
            </c:spPr>
          </c:dPt>
          <c:dPt>
            <c:idx val="4"/>
            <c:invertIfNegative val="0"/>
            <c:bubble3D val="0"/>
            <c:spPr>
              <a:solidFill>
                <a:srgbClr val="1E8A4C"/>
              </a:solidFill>
              <a:effectLst/>
            </c:spPr>
          </c:dPt>
          <c:cat>
            <c:multiLvlStrRef>
              <c:f>Sheet1!$A$2:$A$6</c:f>
              <c:multiLvlStrCache>
                <c:ptCount val="5"/>
                <c:lvl>
                  <c:pt idx="0">
                    <c:v>System OFF</c:v>
                  </c:pt>
                  <c:pt idx="1">
                    <c:v>30% app, no CCTV</c:v>
                  </c:pt>
                  <c:pt idx="2">
                    <c:v>30% app + CCTV</c:v>
                  </c:pt>
                  <c:pt idx="3">
                    <c:v>60% app, no CCTV</c:v>
                  </c:pt>
                  <c:pt idx="4">
                    <c:v>60% app + CCTV</c:v>
                  </c:pt>
                </c:lvl>
              </c:multiLvlStrCache>
            </c:multiLvlStrRef>
          </c:cat>
          <c:val>
            <c:numRef>
              <c:f>Sheet1!$B$2:$B$6</c:f>
              <c:numCache>
                <c:formatCode>General</c:formatCode>
                <c:ptCount val="5"/>
                <c:pt idx="0">
                  <c:v>16.7</c:v>
                </c:pt>
                <c:pt idx="1">
                  <c:v>5.5</c:v>
                </c:pt>
                <c:pt idx="2">
                  <c:v>2.3</c:v>
                </c:pt>
                <c:pt idx="3">
                  <c:v>0.6</c:v>
                </c:pt>
                <c:pt idx="4">
                  <c:v>0.5</c:v>
                </c:pt>
              </c:numCache>
            </c:numRef>
          </c:val>
        </c:ser>
        <c:dLbls>
          <c:numFmt formatCode="0.0&quot;%&quot;" sourceLinked="0"/>
          <c:txPr>
            <a:bodyPr/>
            <a:lstStyle/>
            <a:p>
              <a:pPr>
                <a:defRPr b="0" i="0" strike="noStrike" sz="1300" u="none">
                  <a:solidFill>
                    <a:srgbClr val="1C1F2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A4047"/>
                </a:solidFill>
                <a:latin typeface="+mn-lt"/>
              </a:defRPr>
            </a:pPr>
            <a:endParaRPr lang="en-US"/>
          </a:p>
        </c:txPr>
        <c:crossAx val="2094734552"/>
        <c:crosses val="autoZero"/>
        <c:auto val="1"/>
        <c:lblAlgn val="ctr"/>
        <c:noMultiLvlLbl val="1"/>
      </c:catAx>
      <c:valAx>
        <c:axId val="2094734552"/>
        <c:scaling>
          <c:orientation val="minMax"/>
          <c:max val="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challenge: Smart Cities &amp; CivilTech domain, Open CivilTech Innovation IC26-04-10. Our problem is mobility safety at blind hairpin bends on ghat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1F2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566160"/>
            <a:ext cx="7498080" cy="91440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accent6"/>
                </a:solidFill>
              </a:rPr>
              <a:t>Team CE Endeavours  ·  Innovators Conclave 2026  ·  IC26-04-10 Open CivilTech Innovation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40080"/>
            <a:ext cx="10515600" cy="365760"/>
          </a:xfrm>
          <a:prstGeom prst="rect">
            <a:avLst/>
          </a:prstGeom>
          <a:noFill/>
          <a:ln/>
        </p:spPr>
        <p:txBody>
          <a:bodyPr wrap="square" lIns="0" tIns="0" rIns="0" bIns="0" rtlCol="0" anchor="ctr"/>
          <a:lstStyle/>
          <a:p>
            <a:pPr indent="0" marL="0">
              <a:buNone/>
            </a:pPr>
            <a:r>
              <a:rPr lang="en-US" sz="1300" b="1" spc="200" kern="0" dirty="0">
                <a:solidFill>
                  <a:schemeClr val="accent6"/>
                </a:solidFill>
              </a:rPr>
              <a:t>INNOVATORS CONCLAVE 2026  ·  SMART CITIES &amp; CIVILTECH  ·  IC26-04-10 OPEN INNOVATION</a:t>
            </a:r>
            <a:endParaRPr lang="en-US" sz="1300" dirty="0"/>
          </a:p>
        </p:txBody>
      </p:sp>
      <p:sp>
        <p:nvSpPr>
          <p:cNvPr id="3" name="Text 0"/>
          <p:cNvSpPr/>
          <p:nvPr>
            <p:ph idx="100" type="title" hasCustomPrompt="1"/>
          </p:nvPr>
        </p:nvSpPr>
        <p:spPr>
          <a:xfrm>
            <a:off x="640080" y="1463040"/>
            <a:ext cx="7680960" cy="2011680"/>
          </a:xfrm>
          <a:prstGeom prst="rect">
            <a:avLst/>
          </a:prstGeom>
          <a:noFill/>
          <a:ln/>
        </p:spPr>
        <p:txBody>
          <a:bodyPr wrap="square" lIns="0" tIns="0" rIns="0" bIns="0" rtlCol="0" anchor="b"/>
          <a:lstStyle/>
          <a:p>
            <a:pPr algn="l" indent="0" marL="0">
              <a:buNone/>
            </a:pPr>
            <a:r>
              <a:rPr lang="en-US" sz="5400" b="1" dirty="0">
                <a:solidFill>
                  <a:schemeClr val="bg1"/>
                </a:solidFill>
              </a:rPr>
              <a:t>GHAT-SAFE</a:t>
            </a:r>
            <a:endParaRPr lang="en-US" sz="5400" dirty="0"/>
          </a:p>
        </p:txBody>
      </p:sp>
      <p:sp>
        <p:nvSpPr>
          <p:cNvPr id="4" name="Text 0"/>
          <p:cNvSpPr/>
          <p:nvPr>
            <p:ph idx="101" type="body" hasCustomPrompt="1"/>
          </p:nvPr>
        </p:nvSpPr>
        <p:spPr>
          <a:xfrm>
            <a:off x="640080" y="3566160"/>
            <a:ext cx="7498080" cy="914400"/>
          </a:xfrm>
          <a:prstGeom prst="rect">
            <a:avLst/>
          </a:prstGeom>
          <a:noFill/>
          <a:ln/>
        </p:spPr>
        <p:txBody>
          <a:bodyPr wrap="square" lIns="0" tIns="0" rIns="0" bIns="0" rtlCol="0" anchor="t"/>
          <a:lstStyle/>
          <a:p>
            <a:pPr algn="l" indent="0" marL="0">
              <a:buNone/>
            </a:pPr>
            <a:r>
              <a:rPr lang="en-US" sz="2200" dirty="0">
                <a:solidFill>
                  <a:schemeClr val="accent1"/>
                </a:solidFill>
              </a:rPr>
              <a:t>Software blind-curve warning for hairpin bends on ghat roads</a:t>
            </a:r>
            <a:endParaRPr lang="en-US" sz="2200" dirty="0"/>
          </a:p>
        </p:txBody>
      </p:sp>
      <p:sp>
        <p:nvSpPr>
          <p:cNvPr id="5" name="Text 3"/>
          <p:cNvSpPr txBox="1"/>
          <p:nvPr/>
        </p:nvSpPr>
        <p:spPr>
          <a:xfrm>
            <a:off x="640080" y="5120640"/>
            <a:ext cx="8686800" cy="822960"/>
          </a:xfrm>
          <a:prstGeom prst="rect">
            <a:avLst/>
          </a:prstGeom>
          <a:noFill/>
          <a:ln/>
        </p:spPr>
        <p:txBody>
          <a:bodyPr wrap="square" lIns="0" tIns="0" rIns="0" bIns="0" rtlCol="0" anchor="t"/>
          <a:lstStyle/>
          <a:p>
            <a:pPr indent="0" marL="0">
              <a:buNone/>
            </a:pPr>
            <a:r>
              <a:rPr lang="en-US" sz="2000" b="1" dirty="0">
                <a:solidFill>
                  <a:schemeClr val="bg1"/>
                </a:solidFill>
              </a:rPr>
              <a:t>Team CE Endeavours</a:t>
            </a:r>
            <a:endParaRPr lang="en-US" sz="2000" dirty="0"/>
          </a:p>
          <a:p>
            <a:pPr indent="0" marL="0">
              <a:buNone/>
            </a:pPr>
            <a:r>
              <a:rPr lang="en-US" sz="1500" dirty="0">
                <a:solidFill>
                  <a:schemeClr val="bg2"/>
                </a:solidFill>
              </a:rPr>
              <a:t>Department of Civil Engineering · K.S.R.M. College of Engineering (Autonomous), Kadapa</a:t>
            </a:r>
            <a:endParaRPr lang="en-US" sz="2000" dirty="0"/>
          </a:p>
        </p:txBody>
      </p:sp>
      <p:sp>
        <p:nvSpPr>
          <p:cNvPr id="6" name="Warning diamond"/>
          <p:cNvSpPr/>
          <p:nvPr/>
        </p:nvSpPr>
        <p:spPr>
          <a:xfrm rot="2700000">
            <a:off x="8915400" y="1828800"/>
            <a:ext cx="2468880" cy="2468880"/>
          </a:xfrm>
          <a:prstGeom prst="rect">
            <a:avLst/>
          </a:prstGeom>
          <a:solidFill>
            <a:schemeClr val="accent1"/>
          </a:solidFill>
          <a:ln w="76200">
            <a:solidFill>
              <a:schemeClr val="bg1"/>
            </a:solidFill>
            <a:prstDash val="solid"/>
          </a:ln>
        </p:spPr>
      </p:sp>
      <p:pic>
        <p:nvPicPr>
          <p:cNvPr id="7" name="Image 0" descr="Warning sign">    </p:cNvPr>
          <p:cNvPicPr>
            <a:picLocks noChangeAspect="1"/>
          </p:cNvPicPr>
          <p:nvPr/>
        </p:nvPicPr>
        <p:blipFill>
          <a:blip r:embed="rId1"/>
          <a:stretch>
            <a:fillRect/>
          </a:stretch>
        </p:blipFill>
        <p:spPr>
          <a:xfrm>
            <a:off x="9738360" y="2606040"/>
            <a:ext cx="82296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Team CE Endeavours</a:t>
            </a:r>
            <a:endParaRPr lang="en-US" sz="3200" dirty="0"/>
          </a:p>
        </p:txBody>
      </p:sp>
      <p:sp>
        <p:nvSpPr>
          <p:cNvPr id="3" name="Member card 1"/>
          <p:cNvSpPr/>
          <p:nvPr/>
        </p:nvSpPr>
        <p:spPr>
          <a:xfrm>
            <a:off x="548640" y="1554480"/>
            <a:ext cx="3474720" cy="3566160"/>
          </a:xfrm>
          <a:prstGeom prst="roundRect">
            <a:avLst>
              <a:gd name="adj" fmla="val 3158"/>
            </a:avLst>
          </a:prstGeom>
          <a:solidFill>
            <a:schemeClr val="bg2"/>
          </a:solidFill>
          <a:ln/>
        </p:spPr>
      </p:sp>
      <p:sp>
        <p:nvSpPr>
          <p:cNvPr id="4" name="Warning diamond"/>
          <p:cNvSpPr/>
          <p:nvPr/>
        </p:nvSpPr>
        <p:spPr>
          <a:xfrm rot="2700000">
            <a:off x="1783080" y="1965960"/>
            <a:ext cx="1005840" cy="1005840"/>
          </a:xfrm>
          <a:prstGeom prst="rect">
            <a:avLst/>
          </a:prstGeom>
          <a:solidFill>
            <a:schemeClr val="accent1"/>
          </a:solidFill>
          <a:ln w="25400">
            <a:solidFill>
              <a:schemeClr val="tx1"/>
            </a:solidFill>
            <a:prstDash val="solid"/>
          </a:ln>
        </p:spPr>
      </p:sp>
      <p:sp>
        <p:nvSpPr>
          <p:cNvPr id="5" name="Text 3"/>
          <p:cNvSpPr txBox="1"/>
          <p:nvPr/>
        </p:nvSpPr>
        <p:spPr>
          <a:xfrm>
            <a:off x="1783080" y="1965960"/>
            <a:ext cx="1005840" cy="10058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SA</a:t>
            </a:r>
            <a:endParaRPr lang="en-US" sz="2200" dirty="0"/>
          </a:p>
        </p:txBody>
      </p:sp>
      <p:sp>
        <p:nvSpPr>
          <p:cNvPr id="6" name="Text 4"/>
          <p:cNvSpPr txBox="1"/>
          <p:nvPr/>
        </p:nvSpPr>
        <p:spPr>
          <a:xfrm>
            <a:off x="822960" y="3337560"/>
            <a:ext cx="2926080" cy="822960"/>
          </a:xfrm>
          <a:prstGeom prst="rect">
            <a:avLst/>
          </a:prstGeom>
          <a:noFill/>
          <a:ln/>
        </p:spPr>
        <p:txBody>
          <a:bodyPr wrap="square" lIns="0" tIns="0" rIns="0" bIns="0" rtlCol="0" anchor="ctr"/>
          <a:lstStyle/>
          <a:p>
            <a:pPr algn="ctr" indent="0" marL="0">
              <a:buNone/>
            </a:pPr>
            <a:r>
              <a:rPr lang="en-US" sz="2000" b="1" dirty="0">
                <a:solidFill>
                  <a:schemeClr val="tx1"/>
                </a:solidFill>
              </a:rPr>
              <a:t>Sunkesula Ameer Besha</a:t>
            </a:r>
            <a:endParaRPr lang="en-US" sz="2000" dirty="0"/>
          </a:p>
        </p:txBody>
      </p:sp>
      <p:sp>
        <p:nvSpPr>
          <p:cNvPr id="7" name="Text 5"/>
          <p:cNvSpPr txBox="1"/>
          <p:nvPr/>
        </p:nvSpPr>
        <p:spPr>
          <a:xfrm>
            <a:off x="822960" y="4206240"/>
            <a:ext cx="2926080" cy="685800"/>
          </a:xfrm>
          <a:prstGeom prst="rect">
            <a:avLst/>
          </a:prstGeom>
          <a:noFill/>
          <a:ln/>
        </p:spPr>
        <p:txBody>
          <a:bodyPr wrap="square" lIns="0" tIns="0" rIns="0" bIns="0" rtlCol="0" anchor="ctr"/>
          <a:lstStyle/>
          <a:p>
            <a:pPr algn="ctr" indent="0" marL="0">
              <a:buNone/>
            </a:pPr>
            <a:r>
              <a:rPr lang="en-US" sz="1400" dirty="0">
                <a:solidFill>
                  <a:schemeClr val="tx2"/>
                </a:solidFill>
              </a:rPr>
              <a:t>Reg. No. 249Y1A0134</a:t>
            </a:r>
            <a:endParaRPr lang="en-US" sz="1400" dirty="0"/>
          </a:p>
          <a:p>
            <a:pPr algn="ctr" indent="0" marL="0">
              <a:buNone/>
            </a:pPr>
            <a:r>
              <a:rPr lang="en-US" sz="1400" dirty="0">
                <a:solidFill>
                  <a:schemeClr val="tx2"/>
                </a:solidFill>
              </a:rPr>
              <a:t>B.Tech Civil Engineering · V Semester</a:t>
            </a:r>
            <a:endParaRPr lang="en-US" sz="1400" dirty="0"/>
          </a:p>
        </p:txBody>
      </p:sp>
      <p:sp>
        <p:nvSpPr>
          <p:cNvPr id="8" name="Member card 2"/>
          <p:cNvSpPr/>
          <p:nvPr/>
        </p:nvSpPr>
        <p:spPr>
          <a:xfrm>
            <a:off x="4297680" y="1554480"/>
            <a:ext cx="3474720" cy="3566160"/>
          </a:xfrm>
          <a:prstGeom prst="roundRect">
            <a:avLst>
              <a:gd name="adj" fmla="val 3158"/>
            </a:avLst>
          </a:prstGeom>
          <a:solidFill>
            <a:schemeClr val="bg2"/>
          </a:solidFill>
          <a:ln/>
        </p:spPr>
      </p:sp>
      <p:sp>
        <p:nvSpPr>
          <p:cNvPr id="9" name="Warning diamond"/>
          <p:cNvSpPr/>
          <p:nvPr/>
        </p:nvSpPr>
        <p:spPr>
          <a:xfrm rot="2700000">
            <a:off x="5532120" y="1965960"/>
            <a:ext cx="1005840" cy="1005840"/>
          </a:xfrm>
          <a:prstGeom prst="rect">
            <a:avLst/>
          </a:prstGeom>
          <a:solidFill>
            <a:schemeClr val="accent1"/>
          </a:solidFill>
          <a:ln w="25400">
            <a:solidFill>
              <a:schemeClr val="tx1"/>
            </a:solidFill>
            <a:prstDash val="solid"/>
          </a:ln>
        </p:spPr>
      </p:sp>
      <p:sp>
        <p:nvSpPr>
          <p:cNvPr id="10" name="Text 8"/>
          <p:cNvSpPr txBox="1"/>
          <p:nvPr/>
        </p:nvSpPr>
        <p:spPr>
          <a:xfrm>
            <a:off x="5532120" y="1965960"/>
            <a:ext cx="1005840" cy="10058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BB</a:t>
            </a:r>
            <a:endParaRPr lang="en-US" sz="2200" dirty="0"/>
          </a:p>
        </p:txBody>
      </p:sp>
      <p:sp>
        <p:nvSpPr>
          <p:cNvPr id="11" name="Text 9"/>
          <p:cNvSpPr txBox="1"/>
          <p:nvPr/>
        </p:nvSpPr>
        <p:spPr>
          <a:xfrm>
            <a:off x="4572000" y="3337560"/>
            <a:ext cx="2926080" cy="822960"/>
          </a:xfrm>
          <a:prstGeom prst="rect">
            <a:avLst/>
          </a:prstGeom>
          <a:noFill/>
          <a:ln/>
        </p:spPr>
        <p:txBody>
          <a:bodyPr wrap="square" lIns="0" tIns="0" rIns="0" bIns="0" rtlCol="0" anchor="ctr"/>
          <a:lstStyle/>
          <a:p>
            <a:pPr algn="ctr" indent="0" marL="0">
              <a:buNone/>
            </a:pPr>
            <a:r>
              <a:rPr lang="en-US" sz="2000" b="1" dirty="0">
                <a:solidFill>
                  <a:schemeClr val="tx1"/>
                </a:solidFill>
              </a:rPr>
              <a:t>Bukke Balu Naik</a:t>
            </a:r>
            <a:endParaRPr lang="en-US" sz="2000" dirty="0"/>
          </a:p>
        </p:txBody>
      </p:sp>
      <p:sp>
        <p:nvSpPr>
          <p:cNvPr id="12" name="Text 10"/>
          <p:cNvSpPr txBox="1"/>
          <p:nvPr/>
        </p:nvSpPr>
        <p:spPr>
          <a:xfrm>
            <a:off x="4572000" y="4206240"/>
            <a:ext cx="2926080" cy="685800"/>
          </a:xfrm>
          <a:prstGeom prst="rect">
            <a:avLst/>
          </a:prstGeom>
          <a:noFill/>
          <a:ln/>
        </p:spPr>
        <p:txBody>
          <a:bodyPr wrap="square" lIns="0" tIns="0" rIns="0" bIns="0" rtlCol="0" anchor="ctr"/>
          <a:lstStyle/>
          <a:p>
            <a:pPr algn="ctr" indent="0" marL="0">
              <a:buNone/>
            </a:pPr>
            <a:r>
              <a:rPr lang="en-US" sz="1400" dirty="0">
                <a:solidFill>
                  <a:schemeClr val="tx2"/>
                </a:solidFill>
              </a:rPr>
              <a:t>Reg. No. 259Y5A0103</a:t>
            </a:r>
            <a:endParaRPr lang="en-US" sz="1400" dirty="0"/>
          </a:p>
          <a:p>
            <a:pPr algn="ctr" indent="0" marL="0">
              <a:buNone/>
            </a:pPr>
            <a:r>
              <a:rPr lang="en-US" sz="1400" dirty="0">
                <a:solidFill>
                  <a:schemeClr val="tx2"/>
                </a:solidFill>
              </a:rPr>
              <a:t>B.Tech Civil Engineering · V Semester</a:t>
            </a:r>
            <a:endParaRPr lang="en-US" sz="1400" dirty="0"/>
          </a:p>
        </p:txBody>
      </p:sp>
      <p:sp>
        <p:nvSpPr>
          <p:cNvPr id="13" name="Member card 3"/>
          <p:cNvSpPr/>
          <p:nvPr/>
        </p:nvSpPr>
        <p:spPr>
          <a:xfrm>
            <a:off x="8046720" y="1554480"/>
            <a:ext cx="3474720" cy="3566160"/>
          </a:xfrm>
          <a:prstGeom prst="roundRect">
            <a:avLst>
              <a:gd name="adj" fmla="val 3158"/>
            </a:avLst>
          </a:prstGeom>
          <a:solidFill>
            <a:schemeClr val="bg2"/>
          </a:solidFill>
          <a:ln/>
        </p:spPr>
      </p:sp>
      <p:sp>
        <p:nvSpPr>
          <p:cNvPr id="14" name="Warning diamond"/>
          <p:cNvSpPr/>
          <p:nvPr/>
        </p:nvSpPr>
        <p:spPr>
          <a:xfrm rot="2700000">
            <a:off x="9281160" y="1965960"/>
            <a:ext cx="1005840" cy="1005840"/>
          </a:xfrm>
          <a:prstGeom prst="rect">
            <a:avLst/>
          </a:prstGeom>
          <a:solidFill>
            <a:schemeClr val="accent1"/>
          </a:solidFill>
          <a:ln w="25400">
            <a:solidFill>
              <a:schemeClr val="tx1"/>
            </a:solidFill>
            <a:prstDash val="solid"/>
          </a:ln>
        </p:spPr>
      </p:sp>
      <p:sp>
        <p:nvSpPr>
          <p:cNvPr id="15" name="Text 13"/>
          <p:cNvSpPr txBox="1"/>
          <p:nvPr/>
        </p:nvSpPr>
        <p:spPr>
          <a:xfrm>
            <a:off x="9281160" y="1965960"/>
            <a:ext cx="1005840" cy="100584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MV</a:t>
            </a:r>
            <a:endParaRPr lang="en-US" sz="2200" dirty="0"/>
          </a:p>
        </p:txBody>
      </p:sp>
      <p:sp>
        <p:nvSpPr>
          <p:cNvPr id="16" name="Text 14"/>
          <p:cNvSpPr txBox="1"/>
          <p:nvPr/>
        </p:nvSpPr>
        <p:spPr>
          <a:xfrm>
            <a:off x="8321040" y="3337560"/>
            <a:ext cx="2926080" cy="822960"/>
          </a:xfrm>
          <a:prstGeom prst="rect">
            <a:avLst/>
          </a:prstGeom>
          <a:noFill/>
          <a:ln/>
        </p:spPr>
        <p:txBody>
          <a:bodyPr wrap="square" lIns="0" tIns="0" rIns="0" bIns="0" rtlCol="0" anchor="ctr"/>
          <a:lstStyle/>
          <a:p>
            <a:pPr algn="ctr" indent="0" marL="0">
              <a:buNone/>
            </a:pPr>
            <a:r>
              <a:rPr lang="en-US" sz="2000" b="1" dirty="0">
                <a:solidFill>
                  <a:schemeClr val="tx1"/>
                </a:solidFill>
              </a:rPr>
              <a:t>Maddineni Venkata Siva Narayana</a:t>
            </a:r>
            <a:endParaRPr lang="en-US" sz="2000" dirty="0"/>
          </a:p>
        </p:txBody>
      </p:sp>
      <p:sp>
        <p:nvSpPr>
          <p:cNvPr id="17" name="Text 15"/>
          <p:cNvSpPr txBox="1"/>
          <p:nvPr/>
        </p:nvSpPr>
        <p:spPr>
          <a:xfrm>
            <a:off x="8321040" y="4206240"/>
            <a:ext cx="2926080" cy="685800"/>
          </a:xfrm>
          <a:prstGeom prst="rect">
            <a:avLst/>
          </a:prstGeom>
          <a:noFill/>
          <a:ln/>
        </p:spPr>
        <p:txBody>
          <a:bodyPr wrap="square" lIns="0" tIns="0" rIns="0" bIns="0" rtlCol="0" anchor="ctr"/>
          <a:lstStyle/>
          <a:p>
            <a:pPr algn="ctr" indent="0" marL="0">
              <a:buNone/>
            </a:pPr>
            <a:r>
              <a:rPr lang="en-US" sz="1400" dirty="0">
                <a:solidFill>
                  <a:schemeClr val="tx2"/>
                </a:solidFill>
              </a:rPr>
              <a:t>Reg. No. 259Y5A0122</a:t>
            </a:r>
            <a:endParaRPr lang="en-US" sz="1400" dirty="0"/>
          </a:p>
          <a:p>
            <a:pPr algn="ctr" indent="0" marL="0">
              <a:buNone/>
            </a:pPr>
            <a:r>
              <a:rPr lang="en-US" sz="1400" dirty="0">
                <a:solidFill>
                  <a:schemeClr val="tx2"/>
                </a:solidFill>
              </a:rPr>
              <a:t>B.Tech Civil Engineering · V Semester</a:t>
            </a:r>
            <a:endParaRPr lang="en-US" sz="1400" dirty="0"/>
          </a:p>
        </p:txBody>
      </p:sp>
      <p:sp>
        <p:nvSpPr>
          <p:cNvPr id="18" name="Text 16"/>
          <p:cNvSpPr txBox="1"/>
          <p:nvPr/>
        </p:nvSpPr>
        <p:spPr>
          <a:xfrm>
            <a:off x="548640" y="5486400"/>
            <a:ext cx="11064240" cy="365760"/>
          </a:xfrm>
          <a:prstGeom prst="rect">
            <a:avLst/>
          </a:prstGeom>
          <a:noFill/>
          <a:ln/>
        </p:spPr>
        <p:txBody>
          <a:bodyPr wrap="square" lIns="0" tIns="0" rIns="0" bIns="0" rtlCol="0" anchor="ctr"/>
          <a:lstStyle/>
          <a:p>
            <a:pPr indent="0" marL="0">
              <a:buNone/>
            </a:pPr>
            <a:r>
              <a:rPr lang="en-US" sz="1500" dirty="0">
                <a:solidFill>
                  <a:schemeClr val="tx2"/>
                </a:solidFill>
              </a:rPr>
              <a:t>Department of Civil Engineering, K.S.R.M. College of Engineering (Autonomous), Kadapa, Andhra Pradesh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Blind hairpins hide oncoming vehicles until too late</a:t>
            </a:r>
            <a:endParaRPr lang="en-US" sz="3200" dirty="0"/>
          </a:p>
        </p:txBody>
      </p:sp>
      <p:sp>
        <p:nvSpPr>
          <p:cNvPr id="3" name="Icon circle"/>
          <p:cNvSpPr/>
          <p:nvPr/>
        </p:nvSpPr>
        <p:spPr>
          <a:xfrm>
            <a:off x="548640" y="1463040"/>
            <a:ext cx="777240" cy="777240"/>
          </a:xfrm>
          <a:prstGeom prst="ellipse">
            <a:avLst/>
          </a:prstGeom>
          <a:solidFill>
            <a:schemeClr val="accent1"/>
          </a:solidFill>
          <a:ln/>
        </p:spPr>
      </p:sp>
      <p:pic>
        <p:nvPicPr>
          <p:cNvPr id="4" name="Image 0" descr="Blind bend">    </p:cNvPr>
          <p:cNvPicPr>
            <a:picLocks noChangeAspect="1"/>
          </p:cNvPicPr>
          <p:nvPr/>
        </p:nvPicPr>
        <p:blipFill>
          <a:blip r:embed="rId1"/>
          <a:stretch>
            <a:fillRect/>
          </a:stretch>
        </p:blipFill>
        <p:spPr>
          <a:xfrm>
            <a:off x="722376" y="1636776"/>
            <a:ext cx="429768" cy="429768"/>
          </a:xfrm>
          <a:prstGeom prst="rect">
            <a:avLst/>
          </a:prstGeom>
        </p:spPr>
      </p:pic>
      <p:sp>
        <p:nvSpPr>
          <p:cNvPr id="5" name="Text 2"/>
          <p:cNvSpPr txBox="1"/>
          <p:nvPr/>
        </p:nvSpPr>
        <p:spPr>
          <a:xfrm>
            <a:off x="1554480" y="1417320"/>
            <a:ext cx="4206240" cy="960120"/>
          </a:xfrm>
          <a:prstGeom prst="rect">
            <a:avLst/>
          </a:prstGeom>
          <a:noFill/>
          <a:ln/>
        </p:spPr>
        <p:txBody>
          <a:bodyPr wrap="square" lIns="0" tIns="0" rIns="0" bIns="0" rtlCol="0" anchor="t"/>
          <a:lstStyle/>
          <a:p>
            <a:pPr indent="0" marL="0">
              <a:buNone/>
            </a:pPr>
            <a:r>
              <a:rPr lang="en-US" sz="1800" b="1" dirty="0">
                <a:solidFill>
                  <a:schemeClr val="tx1"/>
                </a:solidFill>
              </a:rPr>
              <a:t>Blind bend</a:t>
            </a:r>
            <a:endParaRPr lang="en-US" sz="1800" dirty="0"/>
          </a:p>
          <a:p>
            <a:pPr indent="0" marL="0">
              <a:buNone/>
            </a:pPr>
            <a:r>
              <a:rPr lang="en-US" sz="1500" dirty="0">
                <a:solidFill>
                  <a:schemeClr val="tx2"/>
                </a:solidFill>
              </a:rPr>
              <a:t>The hill face hides an oncoming vehicle until it is a few metres away.</a:t>
            </a:r>
            <a:endParaRPr lang="en-US" sz="1800" dirty="0"/>
          </a:p>
        </p:txBody>
      </p:sp>
      <p:sp>
        <p:nvSpPr>
          <p:cNvPr id="6" name="Icon circle"/>
          <p:cNvSpPr/>
          <p:nvPr/>
        </p:nvSpPr>
        <p:spPr>
          <a:xfrm>
            <a:off x="548640" y="2606040"/>
            <a:ext cx="777240" cy="777240"/>
          </a:xfrm>
          <a:prstGeom prst="ellipse">
            <a:avLst/>
          </a:prstGeom>
          <a:solidFill>
            <a:schemeClr val="accent1"/>
          </a:solidFill>
          <a:ln/>
        </p:spPr>
      </p:sp>
      <p:pic>
        <p:nvPicPr>
          <p:cNvPr id="7" name="Image 1" descr="Steep, narrow road">    </p:cNvPr>
          <p:cNvPicPr>
            <a:picLocks noChangeAspect="1"/>
          </p:cNvPicPr>
          <p:nvPr/>
        </p:nvPicPr>
        <p:blipFill>
          <a:blip r:embed="rId2"/>
          <a:stretch>
            <a:fillRect/>
          </a:stretch>
        </p:blipFill>
        <p:spPr>
          <a:xfrm>
            <a:off x="722376" y="2779776"/>
            <a:ext cx="429768" cy="429768"/>
          </a:xfrm>
          <a:prstGeom prst="rect">
            <a:avLst/>
          </a:prstGeom>
        </p:spPr>
      </p:pic>
      <p:sp>
        <p:nvSpPr>
          <p:cNvPr id="8" name="Text 4"/>
          <p:cNvSpPr txBox="1"/>
          <p:nvPr/>
        </p:nvSpPr>
        <p:spPr>
          <a:xfrm>
            <a:off x="1554480" y="2560320"/>
            <a:ext cx="4206240" cy="960120"/>
          </a:xfrm>
          <a:prstGeom prst="rect">
            <a:avLst/>
          </a:prstGeom>
          <a:noFill/>
          <a:ln/>
        </p:spPr>
        <p:txBody>
          <a:bodyPr wrap="square" lIns="0" tIns="0" rIns="0" bIns="0" rtlCol="0" anchor="t"/>
          <a:lstStyle/>
          <a:p>
            <a:pPr indent="0" marL="0">
              <a:buNone/>
            </a:pPr>
            <a:r>
              <a:rPr lang="en-US" sz="1800" b="1" dirty="0">
                <a:solidFill>
                  <a:schemeClr val="tx1"/>
                </a:solidFill>
              </a:rPr>
              <a:t>Steep, narrow road</a:t>
            </a:r>
            <a:endParaRPr lang="en-US" sz="1800" dirty="0"/>
          </a:p>
          <a:p>
            <a:pPr indent="0" marL="0">
              <a:buNone/>
            </a:pPr>
            <a:r>
              <a:rPr lang="en-US" sz="1500" dirty="0">
                <a:solidFill>
                  <a:schemeClr val="tx2"/>
                </a:solidFill>
              </a:rPr>
              <a:t>Steep gradients, narrow lanes and no shoulder leave little room to recover.</a:t>
            </a:r>
            <a:endParaRPr lang="en-US" sz="1800" dirty="0"/>
          </a:p>
        </p:txBody>
      </p:sp>
      <p:sp>
        <p:nvSpPr>
          <p:cNvPr id="9" name="Icon circle"/>
          <p:cNvSpPr/>
          <p:nvPr/>
        </p:nvSpPr>
        <p:spPr>
          <a:xfrm>
            <a:off x="548640" y="3749040"/>
            <a:ext cx="777240" cy="777240"/>
          </a:xfrm>
          <a:prstGeom prst="ellipse">
            <a:avLst/>
          </a:prstGeom>
          <a:solidFill>
            <a:schemeClr val="accent1"/>
          </a:solidFill>
          <a:ln/>
        </p:spPr>
      </p:sp>
      <p:pic>
        <p:nvPicPr>
          <p:cNvPr id="10" name="Image 2" descr="Rain and fog">    </p:cNvPr>
          <p:cNvPicPr>
            <a:picLocks noChangeAspect="1"/>
          </p:cNvPicPr>
          <p:nvPr/>
        </p:nvPicPr>
        <p:blipFill>
          <a:blip r:embed="rId3"/>
          <a:stretch>
            <a:fillRect/>
          </a:stretch>
        </p:blipFill>
        <p:spPr>
          <a:xfrm>
            <a:off x="722376" y="3922776"/>
            <a:ext cx="429768" cy="429768"/>
          </a:xfrm>
          <a:prstGeom prst="rect">
            <a:avLst/>
          </a:prstGeom>
        </p:spPr>
      </p:pic>
      <p:sp>
        <p:nvSpPr>
          <p:cNvPr id="11" name="Text 6"/>
          <p:cNvSpPr txBox="1"/>
          <p:nvPr/>
        </p:nvSpPr>
        <p:spPr>
          <a:xfrm>
            <a:off x="1554480" y="3703320"/>
            <a:ext cx="4206240" cy="960120"/>
          </a:xfrm>
          <a:prstGeom prst="rect">
            <a:avLst/>
          </a:prstGeom>
          <a:noFill/>
          <a:ln/>
        </p:spPr>
        <p:txBody>
          <a:bodyPr wrap="square" lIns="0" tIns="0" rIns="0" bIns="0" rtlCol="0" anchor="t"/>
          <a:lstStyle/>
          <a:p>
            <a:pPr indent="0" marL="0">
              <a:buNone/>
            </a:pPr>
            <a:r>
              <a:rPr lang="en-US" sz="1800" b="1" dirty="0">
                <a:solidFill>
                  <a:schemeClr val="tx1"/>
                </a:solidFill>
              </a:rPr>
              <a:t>Rain and fog</a:t>
            </a:r>
            <a:endParaRPr lang="en-US" sz="1800" dirty="0"/>
          </a:p>
          <a:p>
            <a:pPr indent="0" marL="0">
              <a:buNone/>
            </a:pPr>
            <a:r>
              <a:rPr lang="en-US" sz="1500" dirty="0">
                <a:solidFill>
                  <a:schemeClr val="tx2"/>
                </a:solidFill>
              </a:rPr>
              <a:t>Wet surfaces cut tyre grip; fog and night cut visibility further.</a:t>
            </a:r>
            <a:endParaRPr lang="en-US" sz="1800" dirty="0"/>
          </a:p>
        </p:txBody>
      </p:sp>
      <p:sp>
        <p:nvSpPr>
          <p:cNvPr id="12" name="Icon circle"/>
          <p:cNvSpPr/>
          <p:nvPr/>
        </p:nvSpPr>
        <p:spPr>
          <a:xfrm>
            <a:off x="548640" y="4892040"/>
            <a:ext cx="777240" cy="777240"/>
          </a:xfrm>
          <a:prstGeom prst="ellipse">
            <a:avLst/>
          </a:prstGeom>
          <a:solidFill>
            <a:schemeClr val="accent1"/>
          </a:solidFill>
          <a:ln/>
        </p:spPr>
      </p:sp>
      <p:pic>
        <p:nvPicPr>
          <p:cNvPr id="13" name="Image 3" descr="Overspeed and overtaking">    </p:cNvPr>
          <p:cNvPicPr>
            <a:picLocks noChangeAspect="1"/>
          </p:cNvPicPr>
          <p:nvPr/>
        </p:nvPicPr>
        <p:blipFill>
          <a:blip r:embed="rId4"/>
          <a:stretch>
            <a:fillRect/>
          </a:stretch>
        </p:blipFill>
        <p:spPr>
          <a:xfrm>
            <a:off x="722376" y="5065776"/>
            <a:ext cx="429768" cy="429768"/>
          </a:xfrm>
          <a:prstGeom prst="rect">
            <a:avLst/>
          </a:prstGeom>
        </p:spPr>
      </p:pic>
      <p:sp>
        <p:nvSpPr>
          <p:cNvPr id="14" name="Text 8"/>
          <p:cNvSpPr txBox="1"/>
          <p:nvPr/>
        </p:nvSpPr>
        <p:spPr>
          <a:xfrm>
            <a:off x="1554480" y="4846320"/>
            <a:ext cx="4206240" cy="960120"/>
          </a:xfrm>
          <a:prstGeom prst="rect">
            <a:avLst/>
          </a:prstGeom>
          <a:noFill/>
          <a:ln/>
        </p:spPr>
        <p:txBody>
          <a:bodyPr wrap="square" lIns="0" tIns="0" rIns="0" bIns="0" rtlCol="0" anchor="t"/>
          <a:lstStyle/>
          <a:p>
            <a:pPr indent="0" marL="0">
              <a:buNone/>
            </a:pPr>
            <a:r>
              <a:rPr lang="en-US" sz="1800" b="1" dirty="0">
                <a:solidFill>
                  <a:schemeClr val="tx1"/>
                </a:solidFill>
              </a:rPr>
              <a:t>Overspeed and overtaking</a:t>
            </a:r>
            <a:endParaRPr lang="en-US" sz="1800" dirty="0"/>
          </a:p>
          <a:p>
            <a:pPr indent="0" marL="0">
              <a:buNone/>
            </a:pPr>
            <a:r>
              <a:rPr lang="en-US" sz="1500" dirty="0">
                <a:solidFill>
                  <a:schemeClr val="tx2"/>
                </a:solidFill>
              </a:rPr>
              <a:t>Drivers enter the bend too fast or drift across the centre line.</a:t>
            </a:r>
            <a:endParaRPr lang="en-US" sz="1800" dirty="0"/>
          </a:p>
        </p:txBody>
      </p:sp>
      <p:pic>
        <p:nvPicPr>
          <p:cNvPr id="15" name="Image 4" descr="Plan view of a hairpin bend with the hill face blocking the view between the two approaches">    </p:cNvPr>
          <p:cNvPicPr>
            <a:picLocks noChangeAspect="1"/>
          </p:cNvPicPr>
          <p:nvPr/>
        </p:nvPicPr>
        <p:blipFill>
          <a:blip r:embed="rId5"/>
          <a:stretch>
            <a:fillRect/>
          </a:stretch>
        </p:blipFill>
        <p:spPr>
          <a:xfrm>
            <a:off x="6035040" y="1600200"/>
            <a:ext cx="5577840" cy="2453667"/>
          </a:xfrm>
          <a:prstGeom prst="rect">
            <a:avLst/>
          </a:prstGeom>
        </p:spPr>
      </p:pic>
      <p:sp>
        <p:nvSpPr>
          <p:cNvPr id="16" name="Text 9"/>
          <p:cNvSpPr txBox="1"/>
          <p:nvPr/>
        </p:nvSpPr>
        <p:spPr>
          <a:xfrm>
            <a:off x="6035040" y="4251960"/>
            <a:ext cx="5577840" cy="822960"/>
          </a:xfrm>
          <a:prstGeom prst="rect">
            <a:avLst/>
          </a:prstGeom>
          <a:noFill/>
          <a:ln/>
        </p:spPr>
        <p:txBody>
          <a:bodyPr wrap="square" lIns="0" tIns="0" rIns="0" bIns="0" rtlCol="0" anchor="t"/>
          <a:lstStyle/>
          <a:p>
            <a:pPr indent="0" marL="0">
              <a:buNone/>
            </a:pPr>
            <a:r>
              <a:rPr lang="en-US" sz="1400" dirty="0">
                <a:solidFill>
                  <a:schemeClr val="tx2"/>
                </a:solidFill>
              </a:rPr>
              <a:t>Plan of a hairpin bend: the hill face (centre) blocks the line of sight between Approach A and Approach B. A roadside sign alone is easy to miss at night or in fog.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Why it matters</a:t>
            </a:r>
            <a:endParaRPr lang="en-US" sz="3200" dirty="0"/>
          </a:p>
        </p:txBody>
      </p:sp>
      <p:sp>
        <p:nvSpPr>
          <p:cNvPr id="3" name="Text 1"/>
          <p:cNvSpPr txBox="1"/>
          <p:nvPr/>
        </p:nvSpPr>
        <p:spPr>
          <a:xfrm>
            <a:off x="548640" y="1737360"/>
            <a:ext cx="3474720" cy="109728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4,80,583</a:t>
            </a:r>
            <a:endParaRPr lang="en-US" sz="6000" dirty="0"/>
          </a:p>
        </p:txBody>
      </p:sp>
      <p:sp>
        <p:nvSpPr>
          <p:cNvPr id="4" name="Text 2"/>
          <p:cNvSpPr txBox="1"/>
          <p:nvPr/>
        </p:nvSpPr>
        <p:spPr>
          <a:xfrm>
            <a:off x="548640" y="2880360"/>
            <a:ext cx="3291840" cy="822960"/>
          </a:xfrm>
          <a:prstGeom prst="rect">
            <a:avLst/>
          </a:prstGeom>
          <a:noFill/>
          <a:ln/>
        </p:spPr>
        <p:txBody>
          <a:bodyPr wrap="square" lIns="0" tIns="0" rIns="0" bIns="0" rtlCol="0" anchor="t"/>
          <a:lstStyle/>
          <a:p>
            <a:pPr indent="0" marL="0">
              <a:buNone/>
            </a:pPr>
            <a:r>
              <a:rPr lang="en-US" sz="1700" dirty="0">
                <a:solidFill>
                  <a:schemeClr val="tx2"/>
                </a:solidFill>
              </a:rPr>
              <a:t>road accidents reported in India in 2023</a:t>
            </a:r>
            <a:endParaRPr lang="en-US" sz="1700" dirty="0"/>
          </a:p>
        </p:txBody>
      </p:sp>
      <p:sp>
        <p:nvSpPr>
          <p:cNvPr id="5" name="Text 3"/>
          <p:cNvSpPr txBox="1"/>
          <p:nvPr/>
        </p:nvSpPr>
        <p:spPr>
          <a:xfrm>
            <a:off x="4297680" y="1737360"/>
            <a:ext cx="3474720" cy="109728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1,72,890</a:t>
            </a:r>
            <a:endParaRPr lang="en-US" sz="6000" dirty="0"/>
          </a:p>
        </p:txBody>
      </p:sp>
      <p:sp>
        <p:nvSpPr>
          <p:cNvPr id="6" name="Text 4"/>
          <p:cNvSpPr txBox="1"/>
          <p:nvPr/>
        </p:nvSpPr>
        <p:spPr>
          <a:xfrm>
            <a:off x="4297680" y="2880360"/>
            <a:ext cx="3291840" cy="822960"/>
          </a:xfrm>
          <a:prstGeom prst="rect">
            <a:avLst/>
          </a:prstGeom>
          <a:noFill/>
          <a:ln/>
        </p:spPr>
        <p:txBody>
          <a:bodyPr wrap="square" lIns="0" tIns="0" rIns="0" bIns="0" rtlCol="0" anchor="t"/>
          <a:lstStyle/>
          <a:p>
            <a:pPr indent="0" marL="0">
              <a:buNone/>
            </a:pPr>
            <a:r>
              <a:rPr lang="en-US" sz="1700" dirty="0">
                <a:solidFill>
                  <a:schemeClr val="tx2"/>
                </a:solidFill>
              </a:rPr>
              <a:t>people killed in road crashes in 2023</a:t>
            </a:r>
            <a:endParaRPr lang="en-US" sz="1700" dirty="0"/>
          </a:p>
        </p:txBody>
      </p:sp>
      <p:sp>
        <p:nvSpPr>
          <p:cNvPr id="7" name="Text 5"/>
          <p:cNvSpPr txBox="1"/>
          <p:nvPr/>
        </p:nvSpPr>
        <p:spPr>
          <a:xfrm>
            <a:off x="8046720" y="1737360"/>
            <a:ext cx="3474720" cy="1097280"/>
          </a:xfrm>
          <a:prstGeom prst="rect">
            <a:avLst/>
          </a:prstGeom>
          <a:noFill/>
          <a:ln/>
        </p:spPr>
        <p:txBody>
          <a:bodyPr wrap="square" lIns="0" tIns="0" rIns="0" bIns="0" rtlCol="0" anchor="ctr"/>
          <a:lstStyle/>
          <a:p>
            <a:pPr indent="0" marL="0">
              <a:buNone/>
            </a:pPr>
            <a:r>
              <a:rPr lang="en-US" sz="6000" b="1" dirty="0">
                <a:solidFill>
                  <a:schemeClr val="tx1"/>
                </a:solidFill>
                <a:latin typeface="Arial" pitchFamily="34" charset="0"/>
                <a:ea typeface="Arial" pitchFamily="34" charset="-122"/>
                <a:cs typeface="Arial" pitchFamily="34" charset="-120"/>
              </a:rPr>
              <a:t>4 E's</a:t>
            </a:r>
            <a:endParaRPr lang="en-US" sz="6000" dirty="0"/>
          </a:p>
        </p:txBody>
      </p:sp>
      <p:sp>
        <p:nvSpPr>
          <p:cNvPr id="8" name="Text 6"/>
          <p:cNvSpPr txBox="1"/>
          <p:nvPr/>
        </p:nvSpPr>
        <p:spPr>
          <a:xfrm>
            <a:off x="8046720" y="2880360"/>
            <a:ext cx="3291840" cy="822960"/>
          </a:xfrm>
          <a:prstGeom prst="rect">
            <a:avLst/>
          </a:prstGeom>
          <a:noFill/>
          <a:ln/>
        </p:spPr>
        <p:txBody>
          <a:bodyPr wrap="square" lIns="0" tIns="0" rIns="0" bIns="0" rtlCol="0" anchor="t"/>
          <a:lstStyle/>
          <a:p>
            <a:pPr indent="0" marL="0">
              <a:buNone/>
            </a:pPr>
            <a:r>
              <a:rPr lang="en-US" sz="1700" dirty="0">
                <a:solidFill>
                  <a:schemeClr val="tx2"/>
                </a:solidFill>
              </a:rPr>
              <a:t>engineering, education, enforcement and emergency care are all needed</a:t>
            </a:r>
            <a:endParaRPr lang="en-US" sz="1700" dirty="0"/>
          </a:p>
        </p:txBody>
      </p:sp>
      <p:sp>
        <p:nvSpPr>
          <p:cNvPr id="9" name="Gap callout"/>
          <p:cNvSpPr/>
          <p:nvPr/>
        </p:nvSpPr>
        <p:spPr>
          <a:xfrm>
            <a:off x="548640" y="4206240"/>
            <a:ext cx="11064240" cy="1371600"/>
          </a:xfrm>
          <a:prstGeom prst="roundRect">
            <a:avLst>
              <a:gd name="adj" fmla="val 6667"/>
            </a:avLst>
          </a:prstGeom>
          <a:solidFill>
            <a:schemeClr val="bg2"/>
          </a:solidFill>
          <a:ln/>
        </p:spPr>
      </p:sp>
      <p:sp>
        <p:nvSpPr>
          <p:cNvPr id="10" name="Text 8"/>
          <p:cNvSpPr txBox="1"/>
          <p:nvPr/>
        </p:nvSpPr>
        <p:spPr>
          <a:xfrm>
            <a:off x="822960" y="4343400"/>
            <a:ext cx="10515600" cy="1097280"/>
          </a:xfrm>
          <a:prstGeom prst="rect">
            <a:avLst/>
          </a:prstGeom>
          <a:noFill/>
          <a:ln/>
        </p:spPr>
        <p:txBody>
          <a:bodyPr wrap="square" lIns="0" tIns="0" rIns="0" bIns="0" rtlCol="0" anchor="ctr"/>
          <a:lstStyle/>
          <a:p>
            <a:pPr indent="0" marL="0">
              <a:buNone/>
            </a:pPr>
            <a:r>
              <a:rPr lang="en-US" sz="1700" b="1" dirty="0">
                <a:solidFill>
                  <a:schemeClr val="tx1"/>
                </a:solidFill>
              </a:rPr>
              <a:t>The gap we address: </a:t>
            </a:r>
            <a:pPr indent="0" marL="0">
              <a:buNone/>
            </a:pPr>
            <a:r>
              <a:rPr lang="en-US" sz="1700" dirty="0">
                <a:solidFill>
                  <a:schemeClr val="tx1"/>
                </a:solidFill>
              </a:rPr>
              <a:t>at a blind hairpin the driver needs to know an oncoming vehicle is there before it can be seen. Hardware sensor systems do this, but each bend needs poles, power, wiring and maintenance on a remote hillside.</a:t>
            </a:r>
            <a:endParaRPr lang="en-US" sz="1700" dirty="0"/>
          </a:p>
        </p:txBody>
      </p:sp>
      <p:sp>
        <p:nvSpPr>
          <p:cNvPr id="11" name="Text 9"/>
          <p:cNvSpPr txBox="1"/>
          <p:nvPr/>
        </p:nvSpPr>
        <p:spPr>
          <a:xfrm>
            <a:off x="548640" y="5897880"/>
            <a:ext cx="9144000" cy="274320"/>
          </a:xfrm>
          <a:prstGeom prst="rect">
            <a:avLst/>
          </a:prstGeom>
          <a:noFill/>
          <a:ln/>
        </p:spPr>
        <p:txBody>
          <a:bodyPr wrap="square" lIns="0" tIns="0" rIns="0" bIns="0" rtlCol="0" anchor="ctr"/>
          <a:lstStyle/>
          <a:p>
            <a:pPr indent="0" marL="0">
              <a:buNone/>
            </a:pPr>
            <a:r>
              <a:rPr lang="en-US" sz="1100" i="1" dirty="0">
                <a:solidFill>
                  <a:schemeClr val="accent6"/>
                </a:solidFill>
              </a:rPr>
              <a:t>Source: Ministry of Road Transport &amp; Highways, Road Accidents in India 2023.</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From roadside hardware to pure software</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94560"/>
                <a:gridCol w="4206240"/>
                <a:gridCol w="4663440"/>
              </a:tblGrid>
              <a:tr h="566928">
                <a:tc>
                  <a:txBody>
                    <a:bodyPr/>
                    <a:lstStyle/>
                    <a:p>
                      <a:pPr indent="0" marL="0">
                        <a:buNone/>
                      </a:pPr>
                      <a:r>
                        <a:rPr lang="en-US" sz="1500" b="1" dirty="0">
                          <a:solidFill>
                            <a:srgbClr val="FFFFFF"/>
                          </a:solidFill>
                        </a:rPr>
                        <a:t>Function</a:t>
                      </a:r>
                      <a:endParaRPr lang="en-US" sz="15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1C1F23"/>
                    </a:solidFill>
                  </a:tcPr>
                </a:tc>
                <a:tc>
                  <a:txBody>
                    <a:bodyPr/>
                    <a:lstStyle/>
                    <a:p>
                      <a:pPr indent="0" marL="0">
                        <a:buNone/>
                      </a:pPr>
                      <a:r>
                        <a:rPr lang="en-US" sz="1500" b="1" dirty="0">
                          <a:solidFill>
                            <a:srgbClr val="FFFFFF"/>
                          </a:solidFill>
                        </a:rPr>
                        <a:t>Hardware prototype (earlier)</a:t>
                      </a:r>
                      <a:endParaRPr lang="en-US" sz="15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1C1F23"/>
                    </a:solidFill>
                  </a:tcPr>
                </a:tc>
                <a:tc>
                  <a:txBody>
                    <a:bodyPr/>
                    <a:lstStyle/>
                    <a:p>
                      <a:pPr indent="0" marL="0">
                        <a:buNone/>
                      </a:pPr>
                      <a:r>
                        <a:rPr lang="en-US" sz="1500" b="1" dirty="0">
                          <a:solidFill>
                            <a:srgbClr val="FFFFFF"/>
                          </a:solidFill>
                        </a:rPr>
                        <a:t>GHAT-SAFE software (now)</a:t>
                      </a:r>
                      <a:endParaRPr lang="en-US" sz="15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1C1F23"/>
                    </a:solidFill>
                  </a:tcPr>
                </a:tc>
              </a:tr>
              <a:tr h="566928">
                <a:tc>
                  <a:txBody>
                    <a:bodyPr/>
                    <a:lstStyle/>
                    <a:p>
                      <a:pPr indent="0" marL="0">
                        <a:buNone/>
                      </a:pPr>
                      <a:r>
                        <a:rPr lang="en-US" sz="1400" b="1" dirty="0">
                          <a:solidFill>
                            <a:srgbClr val="1C1F23"/>
                          </a:solidFill>
                        </a:rPr>
                        <a:t>Detect vehicle</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indent="0" marL="0">
                        <a:buNone/>
                      </a:pPr>
                      <a:r>
                        <a:rPr lang="en-US" sz="1400" dirty="0">
                          <a:solidFill>
                            <a:srgbClr val="1C1F23"/>
                          </a:solidFill>
                        </a:rPr>
                        <a:t>IR / radar sensor pair at each approach</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indent="0" marL="0">
                        <a:buNone/>
                      </a:pPr>
                      <a:r>
                        <a:rPr lang="en-US" sz="1400" dirty="0">
                          <a:solidFill>
                            <a:srgbClr val="1C1F23"/>
                          </a:solidFill>
                        </a:rPr>
                        <a:t>Phone GPS crossing a geofence + AI detection on existing CCTV</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4D6"/>
                    </a:solidFill>
                  </a:tcPr>
                </a:tc>
              </a:tr>
              <a:tr h="566928">
                <a:tc>
                  <a:txBody>
                    <a:bodyPr/>
                    <a:lstStyle/>
                    <a:p>
                      <a:pPr indent="0" marL="0">
                        <a:buNone/>
                      </a:pPr>
                      <a:r>
                        <a:rPr lang="en-US" sz="1400" b="1" dirty="0">
                          <a:solidFill>
                            <a:srgbClr val="1C1F23"/>
                          </a:solidFill>
                        </a:rPr>
                        <a:t>Logic unit</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FFF"/>
                    </a:solidFill>
                  </a:tcPr>
                </a:tc>
                <a:tc>
                  <a:txBody>
                    <a:bodyPr/>
                    <a:lstStyle/>
                    <a:p>
                      <a:pPr indent="0" marL="0">
                        <a:buNone/>
                      </a:pPr>
                      <a:r>
                        <a:rPr lang="en-US" sz="1400" dirty="0">
                          <a:solidFill>
                            <a:srgbClr val="1C1F23"/>
                          </a:solidFill>
                        </a:rPr>
                        <a:t>Arduino / ESP32 at the roadside</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FFF"/>
                    </a:solidFill>
                  </a:tcPr>
                </a:tc>
                <a:tc>
                  <a:txBody>
                    <a:bodyPr/>
                    <a:lstStyle/>
                    <a:p>
                      <a:pPr indent="0" marL="0">
                        <a:buNone/>
                      </a:pPr>
                      <a:r>
                        <a:rPr lang="en-US" sz="1400" dirty="0">
                          <a:solidFill>
                            <a:srgbClr val="1C1F23"/>
                          </a:solidFill>
                        </a:rPr>
                        <a:t>Cloud bend-state engine, updated every second</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4D6"/>
                    </a:solidFill>
                  </a:tcPr>
                </a:tc>
              </a:tr>
              <a:tr h="566928">
                <a:tc>
                  <a:txBody>
                    <a:bodyPr/>
                    <a:lstStyle/>
                    <a:p>
                      <a:pPr indent="0" marL="0">
                        <a:buNone/>
                      </a:pPr>
                      <a:r>
                        <a:rPr lang="en-US" sz="1400" b="1" dirty="0">
                          <a:solidFill>
                            <a:srgbClr val="1C1F23"/>
                          </a:solidFill>
                        </a:rPr>
                        <a:t>Warning</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indent="0" marL="0">
                        <a:buNone/>
                      </a:pPr>
                      <a:r>
                        <a:rPr lang="en-US" sz="1400" dirty="0">
                          <a:solidFill>
                            <a:srgbClr val="1C1F23"/>
                          </a:solidFill>
                        </a:rPr>
                        <a:t>Amber LED board on the opposite approach</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indent="0" marL="0">
                        <a:buNone/>
                      </a:pPr>
                      <a:r>
                        <a:rPr lang="en-US" sz="1400" dirty="0">
                          <a:solidFill>
                            <a:srgbClr val="1C1F23"/>
                          </a:solidFill>
                        </a:rPr>
                        <a:t>Full-screen alert + voice in the driver app</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4D6"/>
                    </a:solidFill>
                  </a:tcPr>
                </a:tc>
              </a:tr>
              <a:tr h="566928">
                <a:tc>
                  <a:txBody>
                    <a:bodyPr/>
                    <a:lstStyle/>
                    <a:p>
                      <a:pPr indent="0" marL="0">
                        <a:buNone/>
                      </a:pPr>
                      <a:r>
                        <a:rPr lang="en-US" sz="1400" b="1" dirty="0">
                          <a:solidFill>
                            <a:srgbClr val="1C1F23"/>
                          </a:solidFill>
                        </a:rPr>
                        <a:t>Power</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FFF"/>
                    </a:solidFill>
                  </a:tcPr>
                </a:tc>
                <a:tc>
                  <a:txBody>
                    <a:bodyPr/>
                    <a:lstStyle/>
                    <a:p>
                      <a:pPr indent="0" marL="0">
                        <a:buNone/>
                      </a:pPr>
                      <a:r>
                        <a:rPr lang="en-US" sz="1400" dirty="0">
                          <a:solidFill>
                            <a:srgbClr val="1C1F23"/>
                          </a:solidFill>
                        </a:rPr>
                        <a:t>Solar panel and battery at site</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FFF"/>
                    </a:solidFill>
                  </a:tcPr>
                </a:tc>
                <a:tc>
                  <a:txBody>
                    <a:bodyPr/>
                    <a:lstStyle/>
                    <a:p>
                      <a:pPr indent="0" marL="0">
                        <a:buNone/>
                      </a:pPr>
                      <a:r>
                        <a:rPr lang="en-US" sz="1400" dirty="0">
                          <a:solidFill>
                            <a:srgbClr val="1C1F23"/>
                          </a:solidFill>
                        </a:rPr>
                        <a:t>None at site — phones and existing cameras</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4D6"/>
                    </a:solidFill>
                  </a:tcPr>
                </a:tc>
              </a:tr>
              <a:tr h="566928">
                <a:tc>
                  <a:txBody>
                    <a:bodyPr/>
                    <a:lstStyle/>
                    <a:p>
                      <a:pPr indent="0" marL="0">
                        <a:buNone/>
                      </a:pPr>
                      <a:r>
                        <a:rPr lang="en-US" sz="1400" b="1" dirty="0">
                          <a:solidFill>
                            <a:srgbClr val="1C1F23"/>
                          </a:solidFill>
                        </a:rPr>
                        <a:t>Monitoring</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indent="0" marL="0">
                        <a:buNone/>
                      </a:pPr>
                      <a:r>
                        <a:rPr lang="en-US" sz="1400" dirty="0">
                          <a:solidFill>
                            <a:srgbClr val="1C1F23"/>
                          </a:solidFill>
                        </a:rPr>
                        <a:t>Manual site visits</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indent="0" marL="0">
                        <a:buNone/>
                      </a:pPr>
                      <a:r>
                        <a:rPr lang="en-US" sz="1400" dirty="0">
                          <a:solidFill>
                            <a:srgbClr val="1C1F23"/>
                          </a:solidFill>
                        </a:rPr>
                        <a:t>Authority dashboard: alerts, overspeed, near-misses</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4D6"/>
                    </a:solidFill>
                  </a:tcPr>
                </a:tc>
              </a:tr>
              <a:tr h="566928">
                <a:tc>
                  <a:txBody>
                    <a:bodyPr/>
                    <a:lstStyle/>
                    <a:p>
                      <a:pPr indent="0" marL="0">
                        <a:buNone/>
                      </a:pPr>
                      <a:r>
                        <a:rPr lang="en-US" sz="1400" b="1" dirty="0">
                          <a:solidFill>
                            <a:srgbClr val="1C1F23"/>
                          </a:solidFill>
                        </a:rPr>
                        <a:t>Cost per bend</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FFF"/>
                    </a:solidFill>
                  </a:tcPr>
                </a:tc>
                <a:tc>
                  <a:txBody>
                    <a:bodyPr/>
                    <a:lstStyle/>
                    <a:p>
                      <a:pPr indent="0" marL="0">
                        <a:buNone/>
                      </a:pPr>
                      <a:r>
                        <a:rPr lang="en-US" sz="1400" dirty="0">
                          <a:solidFill>
                            <a:srgbClr val="1C1F23"/>
                          </a:solidFill>
                        </a:rPr>
                        <a:t>₹1,550–₹2,800 for a demo model; more for field grade</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FFF"/>
                    </a:solidFill>
                  </a:tcPr>
                </a:tc>
                <a:tc>
                  <a:txBody>
                    <a:bodyPr/>
                    <a:lstStyle/>
                    <a:p>
                      <a:pPr indent="0" marL="0">
                        <a:buNone/>
                      </a:pPr>
                      <a:r>
                        <a:rPr lang="en-US" sz="1400" dirty="0">
                          <a:solidFill>
                            <a:srgbClr val="1C1F23"/>
                          </a:solidFill>
                        </a:rPr>
                        <a:t>Close to zero per bend; cost is app + server hosting</a:t>
                      </a:r>
                      <a:endParaRPr lang="en-US" sz="1400" dirty="0"/>
                    </a:p>
                  </a:txBody>
                  <a:tcPr marL="109728" marR="109728" marT="54864" marB="54864"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FFF4D6"/>
                    </a:solidFill>
                  </a:tcPr>
                </a:tc>
              </a:tr>
            </a:tbl>
          </a:graphicData>
        </a:graphic>
      </p:graphicFrame>
      <p:sp>
        <p:nvSpPr>
          <p:cNvPr id="4" name="Text 1"/>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600" i="1" dirty="0">
                <a:solidFill>
                  <a:schemeClr val="tx2"/>
                </a:solidFill>
              </a:rPr>
              <a:t>Same idea — Detect, Warn, Guide — but nothing has to be installed on the hillside.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How GHAT-SAFE works: Detect, Warn, Guide</a:t>
            </a:r>
            <a:endParaRPr lang="en-US" sz="3200" dirty="0"/>
          </a:p>
        </p:txBody>
      </p:sp>
      <p:sp>
        <p:nvSpPr>
          <p:cNvPr id="3" name="Warning diamond"/>
          <p:cNvSpPr/>
          <p:nvPr/>
        </p:nvSpPr>
        <p:spPr>
          <a:xfrm rot="2700000">
            <a:off x="731520" y="1691640"/>
            <a:ext cx="914400" cy="914400"/>
          </a:xfrm>
          <a:prstGeom prst="rect">
            <a:avLst/>
          </a:prstGeom>
          <a:solidFill>
            <a:schemeClr val="accent1"/>
          </a:solidFill>
          <a:ln w="25400">
            <a:solidFill>
              <a:schemeClr val="tx1"/>
            </a:solidFill>
            <a:prstDash val="solid"/>
          </a:ln>
        </p:spPr>
      </p:sp>
      <p:sp>
        <p:nvSpPr>
          <p:cNvPr id="4" name="Text 2"/>
          <p:cNvSpPr txBox="1"/>
          <p:nvPr/>
        </p:nvSpPr>
        <p:spPr>
          <a:xfrm>
            <a:off x="731520" y="1691640"/>
            <a:ext cx="914400" cy="91440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1</a:t>
            </a:r>
            <a:endParaRPr lang="en-US" sz="2600" dirty="0"/>
          </a:p>
        </p:txBody>
      </p:sp>
      <p:sp>
        <p:nvSpPr>
          <p:cNvPr id="5" name="Text 3"/>
          <p:cNvSpPr txBox="1"/>
          <p:nvPr/>
        </p:nvSpPr>
        <p:spPr>
          <a:xfrm>
            <a:off x="2057400" y="1783080"/>
            <a:ext cx="2011680" cy="731520"/>
          </a:xfrm>
          <a:prstGeom prst="rect">
            <a:avLst/>
          </a:prstGeom>
          <a:noFill/>
          <a:ln/>
        </p:spPr>
        <p:txBody>
          <a:bodyPr wrap="square" lIns="0" tIns="0" rIns="0" bIns="0" rtlCol="0" anchor="ctr"/>
          <a:lstStyle/>
          <a:p>
            <a:pPr indent="0" marL="0">
              <a:buNone/>
            </a:pPr>
            <a:r>
              <a:rPr lang="en-US" sz="2600" b="1" dirty="0">
                <a:solidFill>
                  <a:schemeClr val="tx1"/>
                </a:solidFill>
              </a:rPr>
              <a:t>Detect</a:t>
            </a:r>
            <a:endParaRPr lang="en-US" sz="2600" dirty="0"/>
          </a:p>
        </p:txBody>
      </p:sp>
      <p:sp>
        <p:nvSpPr>
          <p:cNvPr id="6" name="Text 4"/>
          <p:cNvSpPr txBox="1"/>
          <p:nvPr/>
        </p:nvSpPr>
        <p:spPr>
          <a:xfrm>
            <a:off x="548640" y="3017520"/>
            <a:ext cx="3429000" cy="2377440"/>
          </a:xfrm>
          <a:prstGeom prst="rect">
            <a:avLst/>
          </a:prstGeom>
          <a:noFill/>
          <a:ln/>
        </p:spPr>
        <p:txBody>
          <a:bodyPr wrap="square" lIns="0" tIns="0" rIns="0" bIns="0" rtlCol="0" anchor="t"/>
          <a:lstStyle/>
          <a:p>
            <a:pPr indent="0" marL="0">
              <a:buNone/>
            </a:pPr>
            <a:r>
              <a:rPr lang="en-US" sz="1600" dirty="0">
                <a:solidFill>
                  <a:schemeClr val="tx2"/>
                </a:solidFill>
              </a:rPr>
              <a:t>Each bend has two virtual zones (geofences) on its approaches. The app reports the phone's GPS position and speed every second. Existing CCTV at the bend counts vehicles without the app.</a:t>
            </a:r>
            <a:endParaRPr lang="en-US" sz="1600" dirty="0"/>
          </a:p>
        </p:txBody>
      </p:sp>
      <p:sp>
        <p:nvSpPr>
          <p:cNvPr id="7" name="Flow arrow"/>
          <p:cNvSpPr/>
          <p:nvPr/>
        </p:nvSpPr>
        <p:spPr>
          <a:xfrm>
            <a:off x="4041648" y="1965960"/>
            <a:ext cx="201168" cy="365760"/>
          </a:xfrm>
          <a:prstGeom prst="chevron">
            <a:avLst/>
          </a:prstGeom>
          <a:solidFill>
            <a:schemeClr val="accent6"/>
          </a:solidFill>
          <a:ln/>
        </p:spPr>
      </p:sp>
      <p:sp>
        <p:nvSpPr>
          <p:cNvPr id="8" name="Warning diamond"/>
          <p:cNvSpPr/>
          <p:nvPr/>
        </p:nvSpPr>
        <p:spPr>
          <a:xfrm rot="2700000">
            <a:off x="4480560" y="1691640"/>
            <a:ext cx="914400" cy="914400"/>
          </a:xfrm>
          <a:prstGeom prst="rect">
            <a:avLst/>
          </a:prstGeom>
          <a:solidFill>
            <a:schemeClr val="accent1"/>
          </a:solidFill>
          <a:ln w="25400">
            <a:solidFill>
              <a:schemeClr val="tx1"/>
            </a:solidFill>
            <a:prstDash val="solid"/>
          </a:ln>
        </p:spPr>
      </p:sp>
      <p:sp>
        <p:nvSpPr>
          <p:cNvPr id="9" name="Text 7"/>
          <p:cNvSpPr txBox="1"/>
          <p:nvPr/>
        </p:nvSpPr>
        <p:spPr>
          <a:xfrm>
            <a:off x="4480560" y="1691640"/>
            <a:ext cx="914400" cy="91440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2</a:t>
            </a:r>
            <a:endParaRPr lang="en-US" sz="2600" dirty="0"/>
          </a:p>
        </p:txBody>
      </p:sp>
      <p:sp>
        <p:nvSpPr>
          <p:cNvPr id="10" name="Text 8"/>
          <p:cNvSpPr txBox="1"/>
          <p:nvPr/>
        </p:nvSpPr>
        <p:spPr>
          <a:xfrm>
            <a:off x="5806440" y="1783080"/>
            <a:ext cx="2011680" cy="731520"/>
          </a:xfrm>
          <a:prstGeom prst="rect">
            <a:avLst/>
          </a:prstGeom>
          <a:noFill/>
          <a:ln/>
        </p:spPr>
        <p:txBody>
          <a:bodyPr wrap="square" lIns="0" tIns="0" rIns="0" bIns="0" rtlCol="0" anchor="ctr"/>
          <a:lstStyle/>
          <a:p>
            <a:pPr indent="0" marL="0">
              <a:buNone/>
            </a:pPr>
            <a:r>
              <a:rPr lang="en-US" sz="2600" b="1" dirty="0">
                <a:solidFill>
                  <a:schemeClr val="tx1"/>
                </a:solidFill>
              </a:rPr>
              <a:t>Warn</a:t>
            </a:r>
            <a:endParaRPr lang="en-US" sz="2600" dirty="0"/>
          </a:p>
        </p:txBody>
      </p:sp>
      <p:sp>
        <p:nvSpPr>
          <p:cNvPr id="11" name="Text 9"/>
          <p:cNvSpPr txBox="1"/>
          <p:nvPr/>
        </p:nvSpPr>
        <p:spPr>
          <a:xfrm>
            <a:off x="4297680" y="3017520"/>
            <a:ext cx="3429000" cy="2377440"/>
          </a:xfrm>
          <a:prstGeom prst="rect">
            <a:avLst/>
          </a:prstGeom>
          <a:noFill/>
          <a:ln/>
        </p:spPr>
        <p:txBody>
          <a:bodyPr wrap="square" lIns="0" tIns="0" rIns="0" bIns="0" rtlCol="0" anchor="t"/>
          <a:lstStyle/>
          <a:p>
            <a:pPr indent="0" marL="0">
              <a:buNone/>
            </a:pPr>
            <a:r>
              <a:rPr lang="en-US" sz="1600" dirty="0">
                <a:solidFill>
                  <a:schemeClr val="tx2"/>
                </a:solidFill>
              </a:rPr>
              <a:t>The cloud engine checks both approaches. If a vehicle is coming from the other side, drivers get an alert on screen and by voice: “Vehicle ahead — slow down”.</a:t>
            </a:r>
            <a:endParaRPr lang="en-US" sz="1600" dirty="0"/>
          </a:p>
        </p:txBody>
      </p:sp>
      <p:sp>
        <p:nvSpPr>
          <p:cNvPr id="12" name="Flow arrow"/>
          <p:cNvSpPr/>
          <p:nvPr/>
        </p:nvSpPr>
        <p:spPr>
          <a:xfrm>
            <a:off x="7790688" y="1965960"/>
            <a:ext cx="201168" cy="365760"/>
          </a:xfrm>
          <a:prstGeom prst="chevron">
            <a:avLst/>
          </a:prstGeom>
          <a:solidFill>
            <a:schemeClr val="accent6"/>
          </a:solidFill>
          <a:ln/>
        </p:spPr>
      </p:sp>
      <p:sp>
        <p:nvSpPr>
          <p:cNvPr id="13" name="Warning diamond"/>
          <p:cNvSpPr/>
          <p:nvPr/>
        </p:nvSpPr>
        <p:spPr>
          <a:xfrm rot="2700000">
            <a:off x="8229600" y="1691640"/>
            <a:ext cx="914400" cy="914400"/>
          </a:xfrm>
          <a:prstGeom prst="rect">
            <a:avLst/>
          </a:prstGeom>
          <a:solidFill>
            <a:schemeClr val="accent1"/>
          </a:solidFill>
          <a:ln w="25400">
            <a:solidFill>
              <a:schemeClr val="tx1"/>
            </a:solidFill>
            <a:prstDash val="solid"/>
          </a:ln>
        </p:spPr>
      </p:sp>
      <p:sp>
        <p:nvSpPr>
          <p:cNvPr id="14" name="Text 12"/>
          <p:cNvSpPr txBox="1"/>
          <p:nvPr/>
        </p:nvSpPr>
        <p:spPr>
          <a:xfrm>
            <a:off x="8229600" y="1691640"/>
            <a:ext cx="914400" cy="91440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3</a:t>
            </a:r>
            <a:endParaRPr lang="en-US" sz="2600" dirty="0"/>
          </a:p>
        </p:txBody>
      </p:sp>
      <p:sp>
        <p:nvSpPr>
          <p:cNvPr id="15" name="Text 13"/>
          <p:cNvSpPr txBox="1"/>
          <p:nvPr/>
        </p:nvSpPr>
        <p:spPr>
          <a:xfrm>
            <a:off x="9555480" y="1783080"/>
            <a:ext cx="2011680" cy="731520"/>
          </a:xfrm>
          <a:prstGeom prst="rect">
            <a:avLst/>
          </a:prstGeom>
          <a:noFill/>
          <a:ln/>
        </p:spPr>
        <p:txBody>
          <a:bodyPr wrap="square" lIns="0" tIns="0" rIns="0" bIns="0" rtlCol="0" anchor="ctr"/>
          <a:lstStyle/>
          <a:p>
            <a:pPr indent="0" marL="0">
              <a:buNone/>
            </a:pPr>
            <a:r>
              <a:rPr lang="en-US" sz="2600" b="1" dirty="0">
                <a:solidFill>
                  <a:schemeClr val="tx1"/>
                </a:solidFill>
              </a:rPr>
              <a:t>Guide</a:t>
            </a:r>
            <a:endParaRPr lang="en-US" sz="2600" dirty="0"/>
          </a:p>
        </p:txBody>
      </p:sp>
      <p:sp>
        <p:nvSpPr>
          <p:cNvPr id="16" name="Text 14"/>
          <p:cNvSpPr txBox="1"/>
          <p:nvPr/>
        </p:nvSpPr>
        <p:spPr>
          <a:xfrm>
            <a:off x="8046720" y="3017520"/>
            <a:ext cx="3429000" cy="2377440"/>
          </a:xfrm>
          <a:prstGeom prst="rect">
            <a:avLst/>
          </a:prstGeom>
          <a:noFill/>
          <a:ln/>
        </p:spPr>
        <p:txBody>
          <a:bodyPr wrap="square" lIns="0" tIns="0" rIns="0" bIns="0" rtlCol="0" anchor="t"/>
          <a:lstStyle/>
          <a:p>
            <a:pPr indent="0" marL="0">
              <a:buNone/>
            </a:pPr>
            <a:r>
              <a:rPr lang="en-US" sz="1600" dirty="0">
                <a:solidFill>
                  <a:schemeClr val="tx2"/>
                </a:solidFill>
              </a:rPr>
              <a:t>The app shows the advisory speed for the bend and flags overspeed. Every event is logged for the road authority's dashboard.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a:t>
            </a:r>
            <a:endParaRPr lang="en-US" sz="3200" dirty="0"/>
          </a:p>
        </p:txBody>
      </p:sp>
      <p:sp>
        <p:nvSpPr>
          <p:cNvPr id="3" name="Driver app (Android)"/>
          <p:cNvSpPr/>
          <p:nvPr/>
        </p:nvSpPr>
        <p:spPr>
          <a:xfrm>
            <a:off x="548640" y="1554480"/>
            <a:ext cx="3291840" cy="1463040"/>
          </a:xfrm>
          <a:prstGeom prst="roundRect">
            <a:avLst>
              <a:gd name="adj" fmla="val 6250"/>
            </a:avLst>
          </a:prstGeom>
          <a:solidFill>
            <a:schemeClr val="accent4"/>
          </a:solidFill>
          <a:ln/>
        </p:spPr>
      </p:sp>
      <p:pic>
        <p:nvPicPr>
          <p:cNvPr id="4" name="Image 0" descr="Driver app (Android)">    </p:cNvPr>
          <p:cNvPicPr>
            <a:picLocks noChangeAspect="1"/>
          </p:cNvPicPr>
          <p:nvPr/>
        </p:nvPicPr>
        <p:blipFill>
          <a:blip r:embed="rId1"/>
          <a:stretch>
            <a:fillRect/>
          </a:stretch>
        </p:blipFill>
        <p:spPr>
          <a:xfrm>
            <a:off x="777240" y="2034540"/>
            <a:ext cx="502920" cy="502920"/>
          </a:xfrm>
          <a:prstGeom prst="rect">
            <a:avLst/>
          </a:prstGeom>
        </p:spPr>
      </p:pic>
      <p:sp>
        <p:nvSpPr>
          <p:cNvPr id="5" name="Text 2"/>
          <p:cNvSpPr txBox="1"/>
          <p:nvPr/>
        </p:nvSpPr>
        <p:spPr>
          <a:xfrm>
            <a:off x="1463040" y="1554480"/>
            <a:ext cx="2240280" cy="1463040"/>
          </a:xfrm>
          <a:prstGeom prst="rect">
            <a:avLst/>
          </a:prstGeom>
          <a:noFill/>
          <a:ln/>
        </p:spPr>
        <p:txBody>
          <a:bodyPr wrap="square" lIns="0" tIns="0" rIns="0" bIns="0" rtlCol="0" anchor="ctr"/>
          <a:lstStyle/>
          <a:p>
            <a:pPr indent="0" marL="0">
              <a:buNone/>
            </a:pPr>
            <a:r>
              <a:rPr lang="en-US" sz="1700" b="1" dirty="0">
                <a:solidFill>
                  <a:schemeClr val="bg1"/>
                </a:solidFill>
              </a:rPr>
              <a:t>Driver app (Android)</a:t>
            </a:r>
            <a:endParaRPr lang="en-US" sz="1700" dirty="0"/>
          </a:p>
          <a:p>
            <a:pPr indent="0" marL="0">
              <a:buNone/>
            </a:pPr>
            <a:r>
              <a:rPr lang="en-US" sz="1300" dirty="0">
                <a:solidFill>
                  <a:schemeClr val="bg1"/>
                </a:solidFill>
              </a:rPr>
              <a:t>GPS 1 Hz · speed · heading · on-phone geofences</a:t>
            </a:r>
            <a:endParaRPr lang="en-US" sz="1700" dirty="0"/>
          </a:p>
        </p:txBody>
      </p:sp>
      <p:sp>
        <p:nvSpPr>
          <p:cNvPr id="6" name="Existing CCTV at bend"/>
          <p:cNvSpPr/>
          <p:nvPr/>
        </p:nvSpPr>
        <p:spPr>
          <a:xfrm>
            <a:off x="548640" y="3840480"/>
            <a:ext cx="3291840" cy="1463040"/>
          </a:xfrm>
          <a:prstGeom prst="roundRect">
            <a:avLst>
              <a:gd name="adj" fmla="val 6250"/>
            </a:avLst>
          </a:prstGeom>
          <a:solidFill>
            <a:schemeClr val="accent4"/>
          </a:solidFill>
          <a:ln/>
        </p:spPr>
      </p:sp>
      <p:pic>
        <p:nvPicPr>
          <p:cNvPr id="7" name="Image 1" descr="Existing CCTV at bend">    </p:cNvPr>
          <p:cNvPicPr>
            <a:picLocks noChangeAspect="1"/>
          </p:cNvPicPr>
          <p:nvPr/>
        </p:nvPicPr>
        <p:blipFill>
          <a:blip r:embed="rId2"/>
          <a:stretch>
            <a:fillRect/>
          </a:stretch>
        </p:blipFill>
        <p:spPr>
          <a:xfrm>
            <a:off x="777240" y="4320540"/>
            <a:ext cx="502920" cy="502920"/>
          </a:xfrm>
          <a:prstGeom prst="rect">
            <a:avLst/>
          </a:prstGeom>
        </p:spPr>
      </p:pic>
      <p:sp>
        <p:nvSpPr>
          <p:cNvPr id="8" name="Text 4"/>
          <p:cNvSpPr txBox="1"/>
          <p:nvPr/>
        </p:nvSpPr>
        <p:spPr>
          <a:xfrm>
            <a:off x="1463040" y="3840480"/>
            <a:ext cx="2240280" cy="1463040"/>
          </a:xfrm>
          <a:prstGeom prst="rect">
            <a:avLst/>
          </a:prstGeom>
          <a:noFill/>
          <a:ln/>
        </p:spPr>
        <p:txBody>
          <a:bodyPr wrap="square" lIns="0" tIns="0" rIns="0" bIns="0" rtlCol="0" anchor="ctr"/>
          <a:lstStyle/>
          <a:p>
            <a:pPr indent="0" marL="0">
              <a:buNone/>
            </a:pPr>
            <a:r>
              <a:rPr lang="en-US" sz="1700" b="1" dirty="0">
                <a:solidFill>
                  <a:schemeClr val="bg1"/>
                </a:solidFill>
              </a:rPr>
              <a:t>Existing CCTV at bend</a:t>
            </a:r>
            <a:endParaRPr lang="en-US" sz="1700" dirty="0"/>
          </a:p>
          <a:p>
            <a:pPr indent="0" marL="0">
              <a:buNone/>
            </a:pPr>
            <a:r>
              <a:rPr lang="en-US" sz="1300" dirty="0">
                <a:solidFill>
                  <a:schemeClr val="bg1"/>
                </a:solidFill>
              </a:rPr>
              <a:t>AI vehicle detection (YOLO) · counts and direction only</a:t>
            </a:r>
            <a:endParaRPr lang="en-US" sz="1700" dirty="0"/>
          </a:p>
        </p:txBody>
      </p:sp>
      <p:sp>
        <p:nvSpPr>
          <p:cNvPr id="9" name="Bend-state engine (cloud)"/>
          <p:cNvSpPr/>
          <p:nvPr/>
        </p:nvSpPr>
        <p:spPr>
          <a:xfrm>
            <a:off x="4434840" y="2331720"/>
            <a:ext cx="3291840" cy="2194560"/>
          </a:xfrm>
          <a:prstGeom prst="roundRect">
            <a:avLst>
              <a:gd name="adj" fmla="val 4167"/>
            </a:avLst>
          </a:prstGeom>
          <a:solidFill>
            <a:schemeClr val="accent1"/>
          </a:solidFill>
          <a:ln/>
        </p:spPr>
      </p:sp>
      <p:sp>
        <p:nvSpPr>
          <p:cNvPr id="10" name="Text 6"/>
          <p:cNvSpPr txBox="1"/>
          <p:nvPr/>
        </p:nvSpPr>
        <p:spPr>
          <a:xfrm>
            <a:off x="4663440" y="2331720"/>
            <a:ext cx="2834640" cy="2194560"/>
          </a:xfrm>
          <a:prstGeom prst="rect">
            <a:avLst/>
          </a:prstGeom>
          <a:noFill/>
          <a:ln/>
        </p:spPr>
        <p:txBody>
          <a:bodyPr wrap="square" lIns="0" tIns="0" rIns="0" bIns="0" rtlCol="0" anchor="ctr"/>
          <a:lstStyle/>
          <a:p>
            <a:pPr indent="0" marL="0">
              <a:buNone/>
            </a:pPr>
            <a:r>
              <a:rPr lang="en-US" sz="1700" b="1" dirty="0">
                <a:solidFill>
                  <a:schemeClr val="tx1"/>
                </a:solidFill>
              </a:rPr>
              <a:t>Bend-state engine (cloud)</a:t>
            </a:r>
            <a:endParaRPr lang="en-US" sz="1700" dirty="0"/>
          </a:p>
          <a:p>
            <a:pPr indent="0" marL="0">
              <a:buNone/>
            </a:pPr>
            <a:r>
              <a:rPr lang="en-US" sz="1300" dirty="0">
                <a:solidFill>
                  <a:schemeClr val="tx1"/>
                </a:solidFill>
              </a:rPr>
              <a:t>Zone occupancy per bend → CLEAR / ONCOMING / HEAD-ON RISK · overspeed check · event log</a:t>
            </a:r>
            <a:endParaRPr lang="en-US" sz="1700" dirty="0"/>
          </a:p>
        </p:txBody>
      </p:sp>
      <p:sp>
        <p:nvSpPr>
          <p:cNvPr id="11" name="Driver warning"/>
          <p:cNvSpPr/>
          <p:nvPr/>
        </p:nvSpPr>
        <p:spPr>
          <a:xfrm>
            <a:off x="8321040" y="1554480"/>
            <a:ext cx="3291840" cy="1463040"/>
          </a:xfrm>
          <a:prstGeom prst="roundRect">
            <a:avLst>
              <a:gd name="adj" fmla="val 6250"/>
            </a:avLst>
          </a:prstGeom>
          <a:solidFill>
            <a:schemeClr val="accent3"/>
          </a:solidFill>
          <a:ln/>
        </p:spPr>
      </p:sp>
      <p:pic>
        <p:nvPicPr>
          <p:cNvPr id="12" name="Image 2" descr="Driver warning">    </p:cNvPr>
          <p:cNvPicPr>
            <a:picLocks noChangeAspect="1"/>
          </p:cNvPicPr>
          <p:nvPr/>
        </p:nvPicPr>
        <p:blipFill>
          <a:blip r:embed="rId3"/>
          <a:stretch>
            <a:fillRect/>
          </a:stretch>
        </p:blipFill>
        <p:spPr>
          <a:xfrm>
            <a:off x="8549640" y="2034540"/>
            <a:ext cx="502920" cy="502920"/>
          </a:xfrm>
          <a:prstGeom prst="rect">
            <a:avLst/>
          </a:prstGeom>
        </p:spPr>
      </p:pic>
      <p:sp>
        <p:nvSpPr>
          <p:cNvPr id="13" name="Text 8"/>
          <p:cNvSpPr txBox="1"/>
          <p:nvPr/>
        </p:nvSpPr>
        <p:spPr>
          <a:xfrm>
            <a:off x="9235440" y="1554480"/>
            <a:ext cx="2240280" cy="1463040"/>
          </a:xfrm>
          <a:prstGeom prst="rect">
            <a:avLst/>
          </a:prstGeom>
          <a:noFill/>
          <a:ln/>
        </p:spPr>
        <p:txBody>
          <a:bodyPr wrap="square" lIns="0" tIns="0" rIns="0" bIns="0" rtlCol="0" anchor="ctr"/>
          <a:lstStyle/>
          <a:p>
            <a:pPr indent="0" marL="0">
              <a:buNone/>
            </a:pPr>
            <a:r>
              <a:rPr lang="en-US" sz="1700" b="1" dirty="0">
                <a:solidFill>
                  <a:schemeClr val="bg1"/>
                </a:solidFill>
              </a:rPr>
              <a:t>Driver warning</a:t>
            </a:r>
            <a:endParaRPr lang="en-US" sz="1700" dirty="0"/>
          </a:p>
          <a:p>
            <a:pPr indent="0" marL="0">
              <a:buNone/>
            </a:pPr>
            <a:r>
              <a:rPr lang="en-US" sz="1300" dirty="0">
                <a:solidFill>
                  <a:schemeClr val="bg1"/>
                </a:solidFill>
              </a:rPr>
              <a:t>Alert screen + voice in Telugu, Hindi, English · under 1 s</a:t>
            </a:r>
            <a:endParaRPr lang="en-US" sz="1700" dirty="0"/>
          </a:p>
        </p:txBody>
      </p:sp>
      <p:sp>
        <p:nvSpPr>
          <p:cNvPr id="14" name="Authority dashboard"/>
          <p:cNvSpPr/>
          <p:nvPr/>
        </p:nvSpPr>
        <p:spPr>
          <a:xfrm>
            <a:off x="8321040" y="3840480"/>
            <a:ext cx="3291840" cy="1463040"/>
          </a:xfrm>
          <a:prstGeom prst="roundRect">
            <a:avLst>
              <a:gd name="adj" fmla="val 6250"/>
            </a:avLst>
          </a:prstGeom>
          <a:solidFill>
            <a:schemeClr val="accent3"/>
          </a:solidFill>
          <a:ln/>
        </p:spPr>
      </p:sp>
      <p:pic>
        <p:nvPicPr>
          <p:cNvPr id="15" name="Image 3" descr="Authority dashboard">    </p:cNvPr>
          <p:cNvPicPr>
            <a:picLocks noChangeAspect="1"/>
          </p:cNvPicPr>
          <p:nvPr/>
        </p:nvPicPr>
        <p:blipFill>
          <a:blip r:embed="rId4"/>
          <a:stretch>
            <a:fillRect/>
          </a:stretch>
        </p:blipFill>
        <p:spPr>
          <a:xfrm>
            <a:off x="8549640" y="4320540"/>
            <a:ext cx="502920" cy="502920"/>
          </a:xfrm>
          <a:prstGeom prst="rect">
            <a:avLst/>
          </a:prstGeom>
        </p:spPr>
      </p:pic>
      <p:sp>
        <p:nvSpPr>
          <p:cNvPr id="16" name="Text 10"/>
          <p:cNvSpPr txBox="1"/>
          <p:nvPr/>
        </p:nvSpPr>
        <p:spPr>
          <a:xfrm>
            <a:off x="9235440" y="3840480"/>
            <a:ext cx="2240280" cy="1463040"/>
          </a:xfrm>
          <a:prstGeom prst="rect">
            <a:avLst/>
          </a:prstGeom>
          <a:noFill/>
          <a:ln/>
        </p:spPr>
        <p:txBody>
          <a:bodyPr wrap="square" lIns="0" tIns="0" rIns="0" bIns="0" rtlCol="0" anchor="ctr"/>
          <a:lstStyle/>
          <a:p>
            <a:pPr indent="0" marL="0">
              <a:buNone/>
            </a:pPr>
            <a:r>
              <a:rPr lang="en-US" sz="1700" b="1" dirty="0">
                <a:solidFill>
                  <a:schemeClr val="bg1"/>
                </a:solidFill>
              </a:rPr>
              <a:t>Authority dashboard</a:t>
            </a:r>
            <a:endParaRPr lang="en-US" sz="1700" dirty="0"/>
          </a:p>
          <a:p>
            <a:pPr indent="0" marL="0">
              <a:buNone/>
            </a:pPr>
            <a:r>
              <a:rPr lang="en-US" sz="1300" dirty="0">
                <a:solidFill>
                  <a:schemeClr val="bg1"/>
                </a:solidFill>
              </a:rPr>
              <a:t>Bend risk ranking · audit and enforcement data</a:t>
            </a:r>
            <a:endParaRPr lang="en-US" sz="1700" dirty="0"/>
          </a:p>
        </p:txBody>
      </p:sp>
      <p:sp>
        <p:nvSpPr>
          <p:cNvPr id="17" name="Data flow"/>
          <p:cNvSpPr/>
          <p:nvPr/>
        </p:nvSpPr>
        <p:spPr>
          <a:xfrm>
            <a:off x="3840480" y="2286000"/>
            <a:ext cx="594360" cy="640080"/>
          </a:xfrm>
          <a:prstGeom prst="line">
            <a:avLst/>
          </a:prstGeom>
          <a:noFill/>
          <a:ln w="25400">
            <a:solidFill>
              <a:srgbClr val="6B747C"/>
            </a:solidFill>
            <a:prstDash val="solid"/>
            <a:tailEnd type="triangle"/>
          </a:ln>
        </p:spPr>
      </p:sp>
      <p:sp>
        <p:nvSpPr>
          <p:cNvPr id="18" name="Data flow"/>
          <p:cNvSpPr/>
          <p:nvPr/>
        </p:nvSpPr>
        <p:spPr>
          <a:xfrm flipV="1">
            <a:off x="3840480" y="3931920"/>
            <a:ext cx="594360" cy="640080"/>
          </a:xfrm>
          <a:prstGeom prst="line">
            <a:avLst/>
          </a:prstGeom>
          <a:noFill/>
          <a:ln w="25400">
            <a:solidFill>
              <a:srgbClr val="6B747C"/>
            </a:solidFill>
            <a:prstDash val="solid"/>
            <a:tailEnd type="triangle"/>
          </a:ln>
        </p:spPr>
      </p:sp>
      <p:sp>
        <p:nvSpPr>
          <p:cNvPr id="19" name="Data flow"/>
          <p:cNvSpPr/>
          <p:nvPr/>
        </p:nvSpPr>
        <p:spPr>
          <a:xfrm flipV="1">
            <a:off x="7726680" y="2286000"/>
            <a:ext cx="594360" cy="640080"/>
          </a:xfrm>
          <a:prstGeom prst="line">
            <a:avLst/>
          </a:prstGeom>
          <a:noFill/>
          <a:ln w="25400">
            <a:solidFill>
              <a:srgbClr val="6B747C"/>
            </a:solidFill>
            <a:prstDash val="solid"/>
            <a:tailEnd type="triangle"/>
          </a:ln>
        </p:spPr>
      </p:sp>
      <p:sp>
        <p:nvSpPr>
          <p:cNvPr id="20" name="Data flow"/>
          <p:cNvSpPr/>
          <p:nvPr/>
        </p:nvSpPr>
        <p:spPr>
          <a:xfrm>
            <a:off x="7726680" y="3931920"/>
            <a:ext cx="594360" cy="640080"/>
          </a:xfrm>
          <a:prstGeom prst="line">
            <a:avLst/>
          </a:prstGeom>
          <a:noFill/>
          <a:ln w="25400">
            <a:solidFill>
              <a:srgbClr val="6B747C"/>
            </a:solidFill>
            <a:prstDash val="solid"/>
            <a:tailEnd type="triangle"/>
          </a:ln>
        </p:spPr>
      </p:sp>
      <p:sp>
        <p:nvSpPr>
          <p:cNvPr id="21" name="Text 15"/>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1400" dirty="0">
                <a:solidFill>
                  <a:schemeClr val="tx2"/>
                </a:solidFill>
              </a:rPr>
              <a:t>Stack: Flutter/Android app · FastAPI or Node.js backend · Redis (live state) · PostgreSQL + PostGIS (bend geometry, logs) · MQTT/WebSocket push · Python + OpenCV for CCTV</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Zone length comes from stopping sight distance</a:t>
            </a:r>
            <a:endParaRPr lang="en-US" sz="3200" dirty="0"/>
          </a:p>
        </p:txBody>
      </p:sp>
      <p:sp>
        <p:nvSpPr>
          <p:cNvPr id="3" name="Formula card"/>
          <p:cNvSpPr/>
          <p:nvPr/>
        </p:nvSpPr>
        <p:spPr>
          <a:xfrm>
            <a:off x="548640" y="1463040"/>
            <a:ext cx="5120640" cy="1828800"/>
          </a:xfrm>
          <a:prstGeom prst="roundRect">
            <a:avLst>
              <a:gd name="adj" fmla="val 5000"/>
            </a:avLst>
          </a:prstGeom>
          <a:solidFill>
            <a:schemeClr val="tx1"/>
          </a:solidFill>
          <a:ln/>
        </p:spPr>
      </p:sp>
      <p:sp>
        <p:nvSpPr>
          <p:cNvPr id="4" name="Text 2"/>
          <p:cNvSpPr txBox="1"/>
          <p:nvPr/>
        </p:nvSpPr>
        <p:spPr>
          <a:xfrm>
            <a:off x="822960" y="1554480"/>
            <a:ext cx="4663440" cy="1645920"/>
          </a:xfrm>
          <a:prstGeom prst="rect">
            <a:avLst/>
          </a:prstGeom>
          <a:noFill/>
          <a:ln/>
        </p:spPr>
        <p:txBody>
          <a:bodyPr wrap="square" lIns="0" tIns="0" rIns="0" bIns="0" rtlCol="0" anchor="ctr"/>
          <a:lstStyle/>
          <a:p>
            <a:pPr indent="0" marL="0">
              <a:buNone/>
            </a:pPr>
            <a:r>
              <a:rPr lang="en-US" sz="2600" b="1" dirty="0">
                <a:solidFill>
                  <a:schemeClr val="accent1"/>
                </a:solidFill>
                <a:latin typeface="Courier New" pitchFamily="34" charset="0"/>
                <a:ea typeface="Courier New" pitchFamily="34" charset="-122"/>
                <a:cs typeface="Courier New" pitchFamily="34" charset="-120"/>
              </a:rPr>
              <a:t>SSD = v·t + v²/(2gf)</a:t>
            </a:r>
            <a:endParaRPr lang="en-US" sz="2600" dirty="0"/>
          </a:p>
          <a:p>
            <a:pPr indent="0" marL="0">
              <a:buNone/>
            </a:pPr>
            <a:r>
              <a:rPr lang="en-US" sz="2200" b="1" dirty="0">
                <a:solidFill>
                  <a:schemeClr val="bg1"/>
                </a:solidFill>
                <a:latin typeface="Courier New" pitchFamily="34" charset="0"/>
                <a:ea typeface="Courier New" pitchFamily="34" charset="-122"/>
                <a:cs typeface="Courier New" pitchFamily="34" charset="-120"/>
              </a:rPr>
              <a:t>Geofence = SSD + v × 2 s</a:t>
            </a:r>
            <a:endParaRPr lang="en-US" sz="2600" dirty="0"/>
          </a:p>
        </p:txBody>
      </p:sp>
      <p:sp>
        <p:nvSpPr>
          <p:cNvPr id="5" name="Text 3"/>
          <p:cNvSpPr txBox="1"/>
          <p:nvPr/>
        </p:nvSpPr>
        <p:spPr>
          <a:xfrm>
            <a:off x="548640" y="3566160"/>
            <a:ext cx="512064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v = approach speed 40 km/h (11.1 m/s)</a:t>
            </a:r>
            <a:endParaRPr lang="en-US" sz="1600" dirty="0"/>
          </a:p>
          <a:p>
            <a:pPr marL="342900" indent="-342900">
              <a:spcAft>
                <a:spcPts val="600"/>
              </a:spcAft>
              <a:buSzPct val="100000"/>
              <a:buChar char="•"/>
            </a:pPr>
            <a:r>
              <a:rPr lang="en-US" sz="1600" dirty="0">
                <a:solidFill>
                  <a:schemeClr val="tx1"/>
                </a:solidFill>
              </a:rPr>
              <a:t>t = 2.5 s perception–reaction time</a:t>
            </a:r>
            <a:endParaRPr lang="en-US" sz="1600" dirty="0"/>
          </a:p>
          <a:p>
            <a:pPr marL="342900" indent="-342900">
              <a:spcAft>
                <a:spcPts val="600"/>
              </a:spcAft>
              <a:buSzPct val="100000"/>
              <a:buChar char="•"/>
            </a:pPr>
            <a:r>
              <a:rPr lang="en-US" sz="1600" dirty="0">
                <a:solidFill>
                  <a:schemeClr val="tx1"/>
                </a:solidFill>
              </a:rPr>
              <a:t>f = longitudinal friction, reduced for wet roads</a:t>
            </a:r>
            <a:endParaRPr lang="en-US" sz="1600" dirty="0"/>
          </a:p>
          <a:p>
            <a:pPr marL="342900" indent="-342900">
              <a:spcAft>
                <a:spcPts val="600"/>
              </a:spcAft>
              <a:buSzPct val="100000"/>
              <a:buChar char="•"/>
            </a:pPr>
            <a:r>
              <a:rPr lang="en-US" sz="1600" dirty="0">
                <a:solidFill>
                  <a:schemeClr val="tx1"/>
                </a:solidFill>
              </a:rPr>
              <a:t>2 s added for GPS update + mobile network delay</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26480" y="1463040"/>
          <a:ext cx="5486400" cy="914400"/>
        </p:xfrm>
        <a:graphic>
          <a:graphicData uri="http://schemas.openxmlformats.org/drawingml/2006/table">
            <a:tbl>
              <a:tblPr/>
              <a:tblGrid>
                <a:gridCol w="1371600"/>
                <a:gridCol w="1097280"/>
                <a:gridCol w="731520"/>
                <a:gridCol w="1097280"/>
                <a:gridCol w="1188720"/>
              </a:tblGrid>
              <a:tr h="566928">
                <a:tc>
                  <a:txBody>
                    <a:bodyPr/>
                    <a:lstStyle/>
                    <a:p>
                      <a:pPr algn="ctr" indent="0" marL="0">
                        <a:buNone/>
                      </a:pPr>
                      <a:r>
                        <a:rPr lang="en-US" sz="1500" b="1" dirty="0">
                          <a:solidFill>
                            <a:srgbClr val="FFFFFF"/>
                          </a:solidFill>
                        </a:rPr>
                        <a:t>Condition</a:t>
                      </a:r>
                      <a:endParaRPr lang="en-US" sz="15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1C1F23"/>
                    </a:solidFill>
                  </a:tcPr>
                </a:tc>
                <a:tc>
                  <a:txBody>
                    <a:bodyPr/>
                    <a:lstStyle/>
                    <a:p>
                      <a:pPr algn="ctr" indent="0" marL="0">
                        <a:buNone/>
                      </a:pPr>
                      <a:r>
                        <a:rPr lang="en-US" sz="1500" b="1" dirty="0">
                          <a:solidFill>
                            <a:srgbClr val="FFFFFF"/>
                          </a:solidFill>
                        </a:rPr>
                        <a:t>Advisory</a:t>
                      </a:r>
                      <a:endParaRPr lang="en-US" sz="15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1C1F23"/>
                    </a:solidFill>
                  </a:tcPr>
                </a:tc>
                <a:tc>
                  <a:txBody>
                    <a:bodyPr/>
                    <a:lstStyle/>
                    <a:p>
                      <a:pPr algn="ctr" indent="0" marL="0">
                        <a:buNone/>
                      </a:pPr>
                      <a:r>
                        <a:rPr lang="en-US" sz="1500" b="1" dirty="0">
                          <a:solidFill>
                            <a:srgbClr val="FFFFFF"/>
                          </a:solidFill>
                        </a:rPr>
                        <a:t>f</a:t>
                      </a:r>
                      <a:endParaRPr lang="en-US" sz="15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1C1F23"/>
                    </a:solidFill>
                  </a:tcPr>
                </a:tc>
                <a:tc>
                  <a:txBody>
                    <a:bodyPr/>
                    <a:lstStyle/>
                    <a:p>
                      <a:pPr algn="ctr" indent="0" marL="0">
                        <a:buNone/>
                      </a:pPr>
                      <a:r>
                        <a:rPr lang="en-US" sz="1500" b="1" dirty="0">
                          <a:solidFill>
                            <a:srgbClr val="FFFFFF"/>
                          </a:solidFill>
                        </a:rPr>
                        <a:t>SSD</a:t>
                      </a:r>
                      <a:endParaRPr lang="en-US" sz="15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1C1F23"/>
                    </a:solidFill>
                  </a:tcPr>
                </a:tc>
                <a:tc>
                  <a:txBody>
                    <a:bodyPr/>
                    <a:lstStyle/>
                    <a:p>
                      <a:pPr algn="ctr" indent="0" marL="0">
                        <a:buNone/>
                      </a:pPr>
                      <a:r>
                        <a:rPr lang="en-US" sz="1500" b="1" dirty="0">
                          <a:solidFill>
                            <a:srgbClr val="FFFFFF"/>
                          </a:solidFill>
                        </a:rPr>
                        <a:t>Geofence</a:t>
                      </a:r>
                      <a:endParaRPr lang="en-US" sz="15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1C1F23"/>
                    </a:solidFill>
                  </a:tcPr>
                </a:tc>
              </a:tr>
              <a:tr h="566928">
                <a:tc>
                  <a:txBody>
                    <a:bodyPr/>
                    <a:lstStyle/>
                    <a:p>
                      <a:pPr algn="ctr" indent="0" marL="0">
                        <a:buNone/>
                      </a:pPr>
                      <a:r>
                        <a:rPr lang="en-US" sz="1600" b="1" dirty="0">
                          <a:solidFill>
                            <a:srgbClr val="1C1F23"/>
                          </a:solidFill>
                        </a:rPr>
                        <a:t>Clear</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25 km/h</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0.40</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43.5 m</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b="1" dirty="0">
                          <a:solidFill>
                            <a:srgbClr val="1C1F23"/>
                          </a:solidFill>
                        </a:rPr>
                        <a:t>66 m</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r>
              <a:tr h="566928">
                <a:tc>
                  <a:txBody>
                    <a:bodyPr/>
                    <a:lstStyle/>
                    <a:p>
                      <a:pPr algn="ctr" indent="0" marL="0">
                        <a:buNone/>
                      </a:pPr>
                      <a:r>
                        <a:rPr lang="en-US" sz="1600" b="1" dirty="0">
                          <a:solidFill>
                            <a:srgbClr val="1C1F23"/>
                          </a:solidFill>
                        </a:rPr>
                        <a:t>Rain / wet</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20 km/h</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0.30</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48.8 m</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b="1" dirty="0">
                          <a:solidFill>
                            <a:srgbClr val="1C1F23"/>
                          </a:solidFill>
                        </a:rPr>
                        <a:t>71 m</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r>
              <a:tr h="566928">
                <a:tc>
                  <a:txBody>
                    <a:bodyPr/>
                    <a:lstStyle/>
                    <a:p>
                      <a:pPr algn="ctr" indent="0" marL="0">
                        <a:buNone/>
                      </a:pPr>
                      <a:r>
                        <a:rPr lang="en-US" sz="1600" b="1" dirty="0">
                          <a:solidFill>
                            <a:srgbClr val="1C1F23"/>
                          </a:solidFill>
                        </a:rPr>
                        <a:t>Fog / night</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20 km/h</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0.35</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dirty="0">
                          <a:solidFill>
                            <a:srgbClr val="1C1F23"/>
                          </a:solidFill>
                        </a:rPr>
                        <a:t>45.8 m</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c>
                  <a:txBody>
                    <a:bodyPr/>
                    <a:lstStyle/>
                    <a:p>
                      <a:pPr algn="ctr" indent="0" marL="0">
                        <a:buNone/>
                      </a:pPr>
                      <a:r>
                        <a:rPr lang="en-US" sz="1600" b="1" dirty="0">
                          <a:solidFill>
                            <a:srgbClr val="1C1F23"/>
                          </a:solidFill>
                        </a:rPr>
                        <a:t>68 m</a:t>
                      </a:r>
                      <a:endParaRPr lang="en-US" sz="1600" dirty="0"/>
                    </a:p>
                  </a:txBody>
                  <a:tcPr marL="91440" marR="91440" marT="45720" marB="45720" anchor="ctr">
                    <a:lnL w="9525" cap="flat" cmpd="sng" algn="ctr">
                      <a:solidFill>
                        <a:srgbClr val="D5D9D8"/>
                      </a:solidFill>
                      <a:prstDash val="solid"/>
                      <a:round/>
                      <a:headEnd type="none" w="med" len="med"/>
                      <a:tailEnd type="none" w="med" len="med"/>
                    </a:lnL>
                    <a:lnR w="9525" cap="flat" cmpd="sng" algn="ctr">
                      <a:solidFill>
                        <a:srgbClr val="D5D9D8"/>
                      </a:solidFill>
                      <a:prstDash val="solid"/>
                      <a:round/>
                      <a:headEnd type="none" w="med" len="med"/>
                      <a:tailEnd type="none" w="med" len="med"/>
                    </a:lnR>
                    <a:lnT w="9525" cap="flat" cmpd="sng" algn="ctr">
                      <a:solidFill>
                        <a:srgbClr val="D5D9D8"/>
                      </a:solidFill>
                      <a:prstDash val="solid"/>
                      <a:round/>
                      <a:headEnd type="none" w="med" len="med"/>
                      <a:tailEnd type="none" w="med" len="med"/>
                    </a:lnT>
                    <a:lnB w="9525" cap="flat" cmpd="sng" algn="ctr">
                      <a:solidFill>
                        <a:srgbClr val="D5D9D8"/>
                      </a:solidFill>
                      <a:prstDash val="solid"/>
                      <a:round/>
                      <a:headEnd type="none" w="med" len="med"/>
                      <a:tailEnd type="none" w="med" len="med"/>
                    </a:lnB>
                    <a:solidFill>
                      <a:srgbClr val="EEF0EF"/>
                    </a:solidFill>
                  </a:tcPr>
                </a:tc>
              </a:tr>
            </a:tbl>
          </a:graphicData>
        </a:graphic>
      </p:graphicFrame>
      <p:sp>
        <p:nvSpPr>
          <p:cNvPr id="7" name="Text 4"/>
          <p:cNvSpPr txBox="1"/>
          <p:nvPr/>
        </p:nvSpPr>
        <p:spPr>
          <a:xfrm>
            <a:off x="6126480" y="4023360"/>
            <a:ext cx="5486400" cy="1188720"/>
          </a:xfrm>
          <a:prstGeom prst="rect">
            <a:avLst/>
          </a:prstGeom>
          <a:noFill/>
          <a:ln/>
        </p:spPr>
        <p:txBody>
          <a:bodyPr wrap="square" lIns="0" tIns="0" rIns="0" bIns="0" rtlCol="0" anchor="t"/>
          <a:lstStyle/>
          <a:p>
            <a:pPr indent="0" marL="0">
              <a:buNone/>
            </a:pPr>
            <a:r>
              <a:rPr lang="en-US" sz="1500" dirty="0">
                <a:solidFill>
                  <a:schemeClr val="tx2"/>
                </a:solidFill>
              </a:rPr>
              <a:t>Each bend gets its own zones on the map, so a sharper or steeper bend can use longer zones. Values for t and f are editable per bend after the road-safety audit.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Decision logic: three warning states</a:t>
            </a:r>
            <a:endParaRPr lang="en-US" sz="3200" dirty="0"/>
          </a:p>
        </p:txBody>
      </p:sp>
      <p:sp>
        <p:nvSpPr>
          <p:cNvPr id="3" name="Virtual sign 1"/>
          <p:cNvSpPr/>
          <p:nvPr/>
        </p:nvSpPr>
        <p:spPr>
          <a:xfrm>
            <a:off x="548640" y="1463040"/>
            <a:ext cx="5303520" cy="1097280"/>
          </a:xfrm>
          <a:prstGeom prst="roundRect">
            <a:avLst>
              <a:gd name="adj" fmla="val 6667"/>
            </a:avLst>
          </a:prstGeom>
          <a:solidFill>
            <a:srgbClr val="0E0F10"/>
          </a:solidFill>
          <a:ln w="38100">
            <a:solidFill>
              <a:srgbClr val="2A2D30"/>
            </a:solidFill>
            <a:prstDash val="solid"/>
          </a:ln>
        </p:spPr>
      </p:sp>
      <p:sp>
        <p:nvSpPr>
          <p:cNvPr id="4" name="Text 2"/>
          <p:cNvSpPr txBox="1"/>
          <p:nvPr/>
        </p:nvSpPr>
        <p:spPr>
          <a:xfrm>
            <a:off x="777240" y="1463040"/>
            <a:ext cx="4937760" cy="1097280"/>
          </a:xfrm>
          <a:prstGeom prst="rect">
            <a:avLst/>
          </a:prstGeom>
          <a:noFill/>
          <a:ln/>
        </p:spPr>
        <p:txBody>
          <a:bodyPr wrap="square" lIns="0" tIns="0" rIns="0" bIns="0" rtlCol="0" anchor="ctr"/>
          <a:lstStyle/>
          <a:p>
            <a:pPr indent="0" marL="0">
              <a:buNone/>
            </a:pPr>
            <a:r>
              <a:rPr lang="en-US" sz="2200" b="1" dirty="0">
                <a:solidFill>
                  <a:srgbClr val="3DDC84"/>
                </a:solidFill>
                <a:latin typeface="Courier New" pitchFamily="34" charset="0"/>
                <a:ea typeface="Courier New" pitchFamily="34" charset="-122"/>
                <a:cs typeface="Courier New" pitchFamily="34" charset="-120"/>
              </a:rPr>
              <a:t>CLEAR — DRIVE CAREFULLY</a:t>
            </a:r>
            <a:endParaRPr lang="en-US" sz="2200" dirty="0"/>
          </a:p>
        </p:txBody>
      </p:sp>
      <p:sp>
        <p:nvSpPr>
          <p:cNvPr id="5" name="Text 3"/>
          <p:cNvSpPr txBox="1"/>
          <p:nvPr/>
        </p:nvSpPr>
        <p:spPr>
          <a:xfrm>
            <a:off x="6217920" y="1463040"/>
            <a:ext cx="5394960" cy="1097280"/>
          </a:xfrm>
          <a:prstGeom prst="rect">
            <a:avLst/>
          </a:prstGeom>
          <a:noFill/>
          <a:ln/>
        </p:spPr>
        <p:txBody>
          <a:bodyPr wrap="square" lIns="0" tIns="0" rIns="0" bIns="0" rtlCol="0" anchor="ctr"/>
          <a:lstStyle/>
          <a:p>
            <a:pPr indent="0" marL="0">
              <a:buNone/>
            </a:pPr>
            <a:r>
              <a:rPr lang="en-US" sz="1600" dirty="0">
                <a:solidFill>
                  <a:schemeClr val="tx1"/>
                </a:solidFill>
              </a:rPr>
              <a:t>No vehicle in the opposite approach zone. App shows the advisory speed for the bend.</a:t>
            </a:r>
            <a:endParaRPr lang="en-US" sz="1600" dirty="0"/>
          </a:p>
        </p:txBody>
      </p:sp>
      <p:sp>
        <p:nvSpPr>
          <p:cNvPr id="6" name="Virtual sign 2"/>
          <p:cNvSpPr/>
          <p:nvPr/>
        </p:nvSpPr>
        <p:spPr>
          <a:xfrm>
            <a:off x="548640" y="2834640"/>
            <a:ext cx="5303520" cy="1097280"/>
          </a:xfrm>
          <a:prstGeom prst="roundRect">
            <a:avLst>
              <a:gd name="adj" fmla="val 6667"/>
            </a:avLst>
          </a:prstGeom>
          <a:solidFill>
            <a:srgbClr val="0E0F10"/>
          </a:solidFill>
          <a:ln w="38100">
            <a:solidFill>
              <a:srgbClr val="2A2D30"/>
            </a:solidFill>
            <a:prstDash val="solid"/>
          </a:ln>
        </p:spPr>
      </p:sp>
      <p:sp>
        <p:nvSpPr>
          <p:cNvPr id="7" name="Text 5"/>
          <p:cNvSpPr txBox="1"/>
          <p:nvPr/>
        </p:nvSpPr>
        <p:spPr>
          <a:xfrm>
            <a:off x="777240" y="2834640"/>
            <a:ext cx="4937760" cy="1097280"/>
          </a:xfrm>
          <a:prstGeom prst="rect">
            <a:avLst/>
          </a:prstGeom>
          <a:noFill/>
          <a:ln/>
        </p:spPr>
        <p:txBody>
          <a:bodyPr wrap="square" lIns="0" tIns="0" rIns="0" bIns="0" rtlCol="0" anchor="ctr"/>
          <a:lstStyle/>
          <a:p>
            <a:pPr indent="0" marL="0">
              <a:buNone/>
            </a:pPr>
            <a:r>
              <a:rPr lang="en-US" sz="2200" b="1" dirty="0">
                <a:solidFill>
                  <a:srgbClr val="FFC21A"/>
                </a:solidFill>
                <a:latin typeface="Courier New" pitchFamily="34" charset="0"/>
                <a:ea typeface="Courier New" pitchFamily="34" charset="-122"/>
                <a:cs typeface="Courier New" pitchFamily="34" charset="-120"/>
              </a:rPr>
              <a:t>VEHICLE AHEAD — SLOW</a:t>
            </a:r>
            <a:endParaRPr lang="en-US" sz="2200" dirty="0"/>
          </a:p>
        </p:txBody>
      </p:sp>
      <p:sp>
        <p:nvSpPr>
          <p:cNvPr id="8" name="Text 6"/>
          <p:cNvSpPr txBox="1"/>
          <p:nvPr/>
        </p:nvSpPr>
        <p:spPr>
          <a:xfrm>
            <a:off x="6217920" y="2834640"/>
            <a:ext cx="5394960" cy="1097280"/>
          </a:xfrm>
          <a:prstGeom prst="rect">
            <a:avLst/>
          </a:prstGeom>
          <a:noFill/>
          <a:ln/>
        </p:spPr>
        <p:txBody>
          <a:bodyPr wrap="square" lIns="0" tIns="0" rIns="0" bIns="0" rtlCol="0" anchor="ctr"/>
          <a:lstStyle/>
          <a:p>
            <a:pPr indent="0" marL="0">
              <a:buNone/>
            </a:pPr>
            <a:r>
              <a:rPr lang="en-US" sz="1600" dirty="0">
                <a:solidFill>
                  <a:schemeClr val="tx1"/>
                </a:solidFill>
              </a:rPr>
              <a:t>A vehicle is in the opposite approach zone. Driver is told to slow below the advisory speed.</a:t>
            </a:r>
            <a:endParaRPr lang="en-US" sz="1600" dirty="0"/>
          </a:p>
        </p:txBody>
      </p:sp>
      <p:sp>
        <p:nvSpPr>
          <p:cNvPr id="9" name="Virtual sign 3"/>
          <p:cNvSpPr/>
          <p:nvPr/>
        </p:nvSpPr>
        <p:spPr>
          <a:xfrm>
            <a:off x="548640" y="4206240"/>
            <a:ext cx="5303520" cy="1097280"/>
          </a:xfrm>
          <a:prstGeom prst="roundRect">
            <a:avLst>
              <a:gd name="adj" fmla="val 6667"/>
            </a:avLst>
          </a:prstGeom>
          <a:solidFill>
            <a:srgbClr val="0E0F10"/>
          </a:solidFill>
          <a:ln w="38100">
            <a:solidFill>
              <a:srgbClr val="2A2D30"/>
            </a:solidFill>
            <a:prstDash val="solid"/>
          </a:ln>
        </p:spPr>
      </p:sp>
      <p:sp>
        <p:nvSpPr>
          <p:cNvPr id="10" name="Text 8"/>
          <p:cNvSpPr txBox="1"/>
          <p:nvPr/>
        </p:nvSpPr>
        <p:spPr>
          <a:xfrm>
            <a:off x="777240" y="4206240"/>
            <a:ext cx="4937760" cy="1097280"/>
          </a:xfrm>
          <a:prstGeom prst="rect">
            <a:avLst/>
          </a:prstGeom>
          <a:noFill/>
          <a:ln/>
        </p:spPr>
        <p:txBody>
          <a:bodyPr wrap="square" lIns="0" tIns="0" rIns="0" bIns="0" rtlCol="0" anchor="ctr"/>
          <a:lstStyle/>
          <a:p>
            <a:pPr indent="0" marL="0">
              <a:buNone/>
            </a:pPr>
            <a:r>
              <a:rPr lang="en-US" sz="2200" b="1" dirty="0">
                <a:solidFill>
                  <a:srgbClr val="FF4A5E"/>
                </a:solidFill>
                <a:latin typeface="Courier New" pitchFamily="34" charset="0"/>
                <a:ea typeface="Courier New" pitchFamily="34" charset="-122"/>
                <a:cs typeface="Courier New" pitchFamily="34" charset="-120"/>
              </a:rPr>
              <a:t>HEAD-ON RISK — HOLD LEFT</a:t>
            </a:r>
            <a:endParaRPr lang="en-US" sz="2200" dirty="0"/>
          </a:p>
        </p:txBody>
      </p:sp>
      <p:sp>
        <p:nvSpPr>
          <p:cNvPr id="11" name="Text 9"/>
          <p:cNvSpPr txBox="1"/>
          <p:nvPr/>
        </p:nvSpPr>
        <p:spPr>
          <a:xfrm>
            <a:off x="6217920" y="4206240"/>
            <a:ext cx="5394960" cy="1097280"/>
          </a:xfrm>
          <a:prstGeom prst="rect">
            <a:avLst/>
          </a:prstGeom>
          <a:noFill/>
          <a:ln/>
        </p:spPr>
        <p:txBody>
          <a:bodyPr wrap="square" lIns="0" tIns="0" rIns="0" bIns="0" rtlCol="0" anchor="ctr"/>
          <a:lstStyle/>
          <a:p>
            <a:pPr indent="0" marL="0">
              <a:buNone/>
            </a:pPr>
            <a:r>
              <a:rPr lang="en-US" sz="1600" dirty="0">
                <a:solidFill>
                  <a:schemeClr val="tx1"/>
                </a:solidFill>
              </a:rPr>
              <a:t>The oncoming vehicle is already inside the blind bend. Hold left and slow to 15 km/h.</a:t>
            </a:r>
            <a:endParaRPr lang="en-US" sz="1600" dirty="0"/>
          </a:p>
        </p:txBody>
      </p:sp>
      <p:sp>
        <p:nvSpPr>
          <p:cNvPr id="12" name="Text 10"/>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600" b="1" dirty="0">
                <a:solidFill>
                  <a:schemeClr val="tx1"/>
                </a:solidFill>
              </a:rPr>
              <a:t>Plus overspeed: </a:t>
            </a:r>
            <a:pPr indent="0" marL="0">
              <a:buNone/>
            </a:pPr>
            <a:r>
              <a:rPr lang="en-US" sz="1600" dirty="0">
                <a:solidFill>
                  <a:schemeClr val="tx1"/>
                </a:solidFill>
              </a:rPr>
              <a:t>any app user entering a zone more than 5 km/h above the advisory gets “Slow down, hairpin ahead”, and the event is logged.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Working prototype: live bend simulator</a:t>
            </a:r>
            <a:endParaRPr lang="en-US" sz="3200" dirty="0"/>
          </a:p>
        </p:txBody>
      </p:sp>
      <p:pic>
        <p:nvPicPr>
          <p:cNvPr id="3" name="Image 0" descr="Simulator screenshot of the hairpin bend with vehicles, amber geofence zones, red blind zone and CCTV cone">    </p:cNvPr>
          <p:cNvPicPr>
            <a:picLocks noChangeAspect="1"/>
          </p:cNvPicPr>
          <p:nvPr/>
        </p:nvPicPr>
        <p:blipFill>
          <a:blip r:embed="rId1"/>
          <a:stretch>
            <a:fillRect/>
          </a:stretch>
        </p:blipFill>
        <p:spPr>
          <a:xfrm>
            <a:off x="548640" y="1371600"/>
            <a:ext cx="7498080" cy="3298371"/>
          </a:xfrm>
          <a:prstGeom prst="rect">
            <a:avLst/>
          </a:prstGeom>
        </p:spPr>
      </p:pic>
      <p:sp>
        <p:nvSpPr>
          <p:cNvPr id="4" name="Text 1"/>
          <p:cNvSpPr txBox="1"/>
          <p:nvPr/>
        </p:nvSpPr>
        <p:spPr>
          <a:xfrm>
            <a:off x="8321040" y="1371600"/>
            <a:ext cx="329184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Vehicles enter from A and B with mixed speeds and types (car, bike, bus, truck)</a:t>
            </a:r>
            <a:endParaRPr lang="en-US" sz="1500" dirty="0"/>
          </a:p>
          <a:p>
            <a:pPr marL="342900" indent="-342900">
              <a:spcAft>
                <a:spcPts val="800"/>
              </a:spcAft>
              <a:buSzPct val="100000"/>
              <a:buChar char="•"/>
            </a:pPr>
            <a:r>
              <a:rPr lang="en-US" sz="1500" dirty="0">
                <a:solidFill>
                  <a:schemeClr val="tx1"/>
                </a:solidFill>
              </a:rPr>
              <a:t>Amber bands are the geofenced zones; red is the blind conflict zone</a:t>
            </a:r>
            <a:endParaRPr lang="en-US" sz="1500" dirty="0"/>
          </a:p>
          <a:p>
            <a:pPr marL="342900" indent="-342900">
              <a:spcAft>
                <a:spcPts val="800"/>
              </a:spcAft>
              <a:buSzPct val="100000"/>
              <a:buChar char="•"/>
            </a:pPr>
            <a:r>
              <a:rPr lang="en-US" sz="1500" dirty="0">
                <a:solidFill>
                  <a:schemeClr val="tx1"/>
                </a:solidFill>
              </a:rPr>
              <a:t>White outline = driver has the app</a:t>
            </a:r>
            <a:endParaRPr lang="en-US" sz="1500" dirty="0"/>
          </a:p>
          <a:p>
            <a:pPr marL="342900" indent="-342900">
              <a:spcAft>
                <a:spcPts val="800"/>
              </a:spcAft>
              <a:buSzPct val="100000"/>
              <a:buChar char="•"/>
            </a:pPr>
            <a:r>
              <a:rPr lang="en-US" sz="1500" dirty="0">
                <a:solidFill>
                  <a:schemeClr val="tx1"/>
                </a:solidFill>
              </a:rPr>
              <a:t>Controls: weather, traffic, app adoption, CCTV on/off, system on/off</a:t>
            </a:r>
            <a:endParaRPr lang="en-US" sz="1500" dirty="0"/>
          </a:p>
        </p:txBody>
      </p:sp>
      <p:sp>
        <p:nvSpPr>
          <p:cNvPr id="5" name="Text 2"/>
          <p:cNvSpPr txBox="1"/>
          <p:nvPr/>
        </p:nvSpPr>
        <p:spPr>
          <a:xfrm>
            <a:off x="548640" y="4892040"/>
            <a:ext cx="7498080" cy="548640"/>
          </a:xfrm>
          <a:prstGeom prst="rect">
            <a:avLst/>
          </a:prstGeom>
          <a:noFill/>
          <a:ln/>
        </p:spPr>
        <p:txBody>
          <a:bodyPr wrap="square" lIns="0" tIns="0" rIns="0" bIns="0" rtlCol="0" anchor="ctr"/>
          <a:lstStyle/>
          <a:p>
            <a:pPr indent="0" marL="0">
              <a:buNone/>
            </a:pPr>
            <a:r>
              <a:rPr lang="en-US" sz="1400" i="1" dirty="0">
                <a:solidFill>
                  <a:schemeClr val="tx2"/>
                </a:solidFill>
              </a:rPr>
              <a:t>Built as a web app: simulator, driver-app view and authority dashboard run in any browser for the live demo.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 the driver sees</a:t>
            </a:r>
            <a:endParaRPr lang="en-US" sz="3200" dirty="0"/>
          </a:p>
        </p:txBody>
      </p:sp>
      <p:pic>
        <p:nvPicPr>
          <p:cNvPr id="3" name="Image 0" descr="Driver app showing a HEAD-ON RISK alert, current speed 15 km/h and advisory 25 km/h">    </p:cNvPr>
          <p:cNvPicPr>
            <a:picLocks noChangeAspect="1"/>
          </p:cNvPicPr>
          <p:nvPr/>
        </p:nvPicPr>
        <p:blipFill>
          <a:blip r:embed="rId1"/>
          <a:stretch>
            <a:fillRect/>
          </a:stretch>
        </p:blipFill>
        <p:spPr>
          <a:xfrm>
            <a:off x="822960" y="1280160"/>
            <a:ext cx="2651760" cy="4565812"/>
          </a:xfrm>
          <a:prstGeom prst="rect">
            <a:avLst/>
          </a:prstGeom>
        </p:spPr>
      </p:pic>
      <p:sp>
        <p:nvSpPr>
          <p:cNvPr id="4" name="Warning diamond"/>
          <p:cNvSpPr/>
          <p:nvPr/>
        </p:nvSpPr>
        <p:spPr>
          <a:xfrm rot="2700000">
            <a:off x="4206240" y="1527048"/>
            <a:ext cx="548640" cy="548640"/>
          </a:xfrm>
          <a:prstGeom prst="rect">
            <a:avLst/>
          </a:prstGeom>
          <a:solidFill>
            <a:schemeClr val="accent1"/>
          </a:solidFill>
          <a:ln w="19050">
            <a:solidFill>
              <a:schemeClr val="tx1"/>
            </a:solidFill>
            <a:prstDash val="solid"/>
          </a:ln>
        </p:spPr>
      </p:sp>
      <p:sp>
        <p:nvSpPr>
          <p:cNvPr id="5" name="Text 2"/>
          <p:cNvSpPr txBox="1"/>
          <p:nvPr/>
        </p:nvSpPr>
        <p:spPr>
          <a:xfrm>
            <a:off x="5120640" y="1417320"/>
            <a:ext cx="6492240" cy="960120"/>
          </a:xfrm>
          <a:prstGeom prst="rect">
            <a:avLst/>
          </a:prstGeom>
          <a:noFill/>
          <a:ln/>
        </p:spPr>
        <p:txBody>
          <a:bodyPr wrap="square" lIns="0" tIns="0" rIns="0" bIns="0" rtlCol="0" anchor="t"/>
          <a:lstStyle/>
          <a:p>
            <a:pPr indent="0" marL="0">
              <a:buNone/>
            </a:pPr>
            <a:r>
              <a:rPr lang="en-US" sz="1800" b="1" dirty="0">
                <a:solidFill>
                  <a:schemeClr val="tx1"/>
                </a:solidFill>
              </a:rPr>
              <a:t>Voice first</a:t>
            </a:r>
            <a:endParaRPr lang="en-US" sz="1800" dirty="0"/>
          </a:p>
          <a:p>
            <a:pPr indent="0" marL="0">
              <a:buNone/>
            </a:pPr>
            <a:r>
              <a:rPr lang="en-US" sz="1500" dirty="0">
                <a:solidFill>
                  <a:schemeClr val="tx2"/>
                </a:solidFill>
              </a:rPr>
              <a:t>Spoken alert so the driver keeps eyes on the road. Telugu, Hindi and English.</a:t>
            </a:r>
            <a:endParaRPr lang="en-US" sz="1800" dirty="0"/>
          </a:p>
        </p:txBody>
      </p:sp>
      <p:sp>
        <p:nvSpPr>
          <p:cNvPr id="6" name="Warning diamond"/>
          <p:cNvSpPr/>
          <p:nvPr/>
        </p:nvSpPr>
        <p:spPr>
          <a:xfrm rot="2700000">
            <a:off x="4206240" y="2715768"/>
            <a:ext cx="548640" cy="548640"/>
          </a:xfrm>
          <a:prstGeom prst="rect">
            <a:avLst/>
          </a:prstGeom>
          <a:solidFill>
            <a:schemeClr val="accent1"/>
          </a:solidFill>
          <a:ln w="19050">
            <a:solidFill>
              <a:schemeClr val="tx1"/>
            </a:solidFill>
            <a:prstDash val="solid"/>
          </a:ln>
        </p:spPr>
      </p:sp>
      <p:sp>
        <p:nvSpPr>
          <p:cNvPr id="7" name="Text 4"/>
          <p:cNvSpPr txBox="1"/>
          <p:nvPr/>
        </p:nvSpPr>
        <p:spPr>
          <a:xfrm>
            <a:off x="5120640" y="2606040"/>
            <a:ext cx="6492240" cy="960120"/>
          </a:xfrm>
          <a:prstGeom prst="rect">
            <a:avLst/>
          </a:prstGeom>
          <a:noFill/>
          <a:ln/>
        </p:spPr>
        <p:txBody>
          <a:bodyPr wrap="square" lIns="0" tIns="0" rIns="0" bIns="0" rtlCol="0" anchor="t"/>
          <a:lstStyle/>
          <a:p>
            <a:pPr indent="0" marL="0">
              <a:buNone/>
            </a:pPr>
            <a:r>
              <a:rPr lang="en-US" sz="1800" b="1" dirty="0">
                <a:solidFill>
                  <a:schemeClr val="tx1"/>
                </a:solidFill>
              </a:rPr>
              <a:t>One glance</a:t>
            </a:r>
            <a:endParaRPr lang="en-US" sz="1800" dirty="0"/>
          </a:p>
          <a:p>
            <a:pPr indent="0" marL="0">
              <a:buNone/>
            </a:pPr>
            <a:r>
              <a:rPr lang="en-US" sz="1500" dirty="0">
                <a:solidFill>
                  <a:schemeClr val="tx2"/>
                </a:solidFill>
              </a:rPr>
              <a:t>Large alert colour, current speed and the bend's advisory speed — nothing else while moving.</a:t>
            </a:r>
            <a:endParaRPr lang="en-US" sz="1800" dirty="0"/>
          </a:p>
        </p:txBody>
      </p:sp>
      <p:sp>
        <p:nvSpPr>
          <p:cNvPr id="8" name="Warning diamond"/>
          <p:cNvSpPr/>
          <p:nvPr/>
        </p:nvSpPr>
        <p:spPr>
          <a:xfrm rot="2700000">
            <a:off x="4206240" y="3904488"/>
            <a:ext cx="548640" cy="548640"/>
          </a:xfrm>
          <a:prstGeom prst="rect">
            <a:avLst/>
          </a:prstGeom>
          <a:solidFill>
            <a:schemeClr val="accent1"/>
          </a:solidFill>
          <a:ln w="19050">
            <a:solidFill>
              <a:schemeClr val="tx1"/>
            </a:solidFill>
            <a:prstDash val="solid"/>
          </a:ln>
        </p:spPr>
      </p:sp>
      <p:sp>
        <p:nvSpPr>
          <p:cNvPr id="9" name="Text 6"/>
          <p:cNvSpPr txBox="1"/>
          <p:nvPr/>
        </p:nvSpPr>
        <p:spPr>
          <a:xfrm>
            <a:off x="5120640" y="3794760"/>
            <a:ext cx="6492240" cy="960120"/>
          </a:xfrm>
          <a:prstGeom prst="rect">
            <a:avLst/>
          </a:prstGeom>
          <a:noFill/>
          <a:ln/>
        </p:spPr>
        <p:txBody>
          <a:bodyPr wrap="square" lIns="0" tIns="0" rIns="0" bIns="0" rtlCol="0" anchor="t"/>
          <a:lstStyle/>
          <a:p>
            <a:pPr indent="0" marL="0">
              <a:buNone/>
            </a:pPr>
            <a:r>
              <a:rPr lang="en-US" sz="1800" b="1" dirty="0">
                <a:solidFill>
                  <a:schemeClr val="tx1"/>
                </a:solidFill>
              </a:rPr>
              <a:t>Works in weak signal</a:t>
            </a:r>
            <a:endParaRPr lang="en-US" sz="1800" dirty="0"/>
          </a:p>
          <a:p>
            <a:pPr indent="0" marL="0">
              <a:buNone/>
            </a:pPr>
            <a:r>
              <a:rPr lang="en-US" sz="1500" dirty="0">
                <a:solidFill>
                  <a:schemeClr val="tx2"/>
                </a:solidFill>
              </a:rPr>
              <a:t>Bend zones are stored on the phone, so the bend and overspeed alerts still work offline.</a:t>
            </a:r>
            <a:endParaRPr lang="en-US" sz="1800" dirty="0"/>
          </a:p>
        </p:txBody>
      </p:sp>
      <p:sp>
        <p:nvSpPr>
          <p:cNvPr id="10" name="Warning diamond"/>
          <p:cNvSpPr/>
          <p:nvPr/>
        </p:nvSpPr>
        <p:spPr>
          <a:xfrm rot="2700000">
            <a:off x="4206240" y="5093208"/>
            <a:ext cx="548640" cy="548640"/>
          </a:xfrm>
          <a:prstGeom prst="rect">
            <a:avLst/>
          </a:prstGeom>
          <a:solidFill>
            <a:schemeClr val="accent1"/>
          </a:solidFill>
          <a:ln w="19050">
            <a:solidFill>
              <a:schemeClr val="tx1"/>
            </a:solidFill>
            <a:prstDash val="solid"/>
          </a:ln>
        </p:spPr>
      </p:sp>
      <p:sp>
        <p:nvSpPr>
          <p:cNvPr id="11" name="Text 8"/>
          <p:cNvSpPr txBox="1"/>
          <p:nvPr/>
        </p:nvSpPr>
        <p:spPr>
          <a:xfrm>
            <a:off x="5120640" y="4983480"/>
            <a:ext cx="6492240" cy="960120"/>
          </a:xfrm>
          <a:prstGeom prst="rect">
            <a:avLst/>
          </a:prstGeom>
          <a:noFill/>
          <a:ln/>
        </p:spPr>
        <p:txBody>
          <a:bodyPr wrap="square" lIns="0" tIns="0" rIns="0" bIns="0" rtlCol="0" anchor="t"/>
          <a:lstStyle/>
          <a:p>
            <a:pPr indent="0" marL="0">
              <a:buNone/>
            </a:pPr>
            <a:r>
              <a:rPr lang="en-US" sz="1800" b="1" dirty="0">
                <a:solidFill>
                  <a:schemeClr val="tx1"/>
                </a:solidFill>
              </a:rPr>
              <a:t>Privacy</a:t>
            </a:r>
            <a:endParaRPr lang="en-US" sz="1800" dirty="0"/>
          </a:p>
          <a:p>
            <a:pPr indent="0" marL="0">
              <a:buNone/>
            </a:pPr>
            <a:r>
              <a:rPr lang="en-US" sz="1500" dirty="0">
                <a:solidFill>
                  <a:schemeClr val="tx2"/>
                </a:solidFill>
              </a:rPr>
              <a:t>Only position and speed near bends are sent. No names, no video, no tracking elsewhere.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Simulation result: near-misses drop sharply</a:t>
            </a:r>
            <a:endParaRPr lang="en-US" sz="3200" dirty="0"/>
          </a:p>
        </p:txBody>
      </p:sp>
      <p:graphicFrame>
        <p:nvGraphicFramePr>
          <p:cNvPr id="3" name="Chart 0" descr=""/>
          <p:cNvGraphicFramePr/>
          <p:nvPr/>
        </p:nvGraphicFramePr>
        <p:xfrm>
          <a:off x="548640" y="137160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463040"/>
            <a:ext cx="3749040" cy="822960"/>
          </a:xfrm>
          <a:prstGeom prst="rect">
            <a:avLst/>
          </a:prstGeom>
          <a:noFill/>
          <a:ln/>
        </p:spPr>
        <p:txBody>
          <a:bodyPr wrap="square" lIns="0" tIns="0" rIns="0" bIns="0" rtlCol="0" anchor="ctr"/>
          <a:lstStyle/>
          <a:p>
            <a:pPr indent="0" marL="0">
              <a:buNone/>
            </a:pPr>
            <a:r>
              <a:rPr lang="en-US" sz="4000" b="1" dirty="0">
                <a:solidFill>
                  <a:schemeClr val="accent3"/>
                </a:solidFill>
                <a:latin typeface="Arial" pitchFamily="34" charset="0"/>
                <a:ea typeface="Arial" pitchFamily="34" charset="-122"/>
                <a:cs typeface="Arial" pitchFamily="34" charset="-120"/>
              </a:rPr>
              <a:t>16.7% → 0.5%</a:t>
            </a:r>
            <a:endParaRPr lang="en-US" sz="4000" dirty="0"/>
          </a:p>
        </p:txBody>
      </p:sp>
      <p:sp>
        <p:nvSpPr>
          <p:cNvPr id="5" name="Text 2"/>
          <p:cNvSpPr txBox="1"/>
          <p:nvPr/>
        </p:nvSpPr>
        <p:spPr>
          <a:xfrm>
            <a:off x="7863840" y="2286000"/>
            <a:ext cx="3749040" cy="2011680"/>
          </a:xfrm>
          <a:prstGeom prst="rect">
            <a:avLst/>
          </a:prstGeom>
          <a:noFill/>
          <a:ln/>
        </p:spPr>
        <p:txBody>
          <a:bodyPr wrap="square" lIns="0" tIns="0" rIns="0" bIns="0" rtlCol="0" anchor="t"/>
          <a:lstStyle/>
          <a:p>
            <a:pPr indent="0" marL="0">
              <a:buNone/>
            </a:pPr>
            <a:r>
              <a:rPr lang="en-US" sz="1500" dirty="0">
                <a:solidFill>
                  <a:schemeClr val="tx1"/>
                </a:solidFill>
              </a:rPr>
              <a:t>Near-miss rate with 60% app use and CCTV, versus no system.</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At low app adoption, the existing CCTV matters most: it more than halves near-misses at 30% adoption.</a:t>
            </a:r>
            <a:endParaRPr lang="en-US" sz="1500" dirty="0"/>
          </a:p>
        </p:txBody>
      </p:sp>
      <p:sp>
        <p:nvSpPr>
          <p:cNvPr id="6" name="Text 3"/>
          <p:cNvSpPr txBox="1"/>
          <p:nvPr/>
        </p:nvSpPr>
        <p:spPr>
          <a:xfrm>
            <a:off x="7863840" y="4343400"/>
            <a:ext cx="3749040" cy="1371600"/>
          </a:xfrm>
          <a:prstGeom prst="rect">
            <a:avLst/>
          </a:prstGeom>
          <a:noFill/>
          <a:ln/>
        </p:spPr>
        <p:txBody>
          <a:bodyPr wrap="square" lIns="0" tIns="0" rIns="0" bIns="0" rtlCol="0" anchor="t"/>
          <a:lstStyle/>
          <a:p>
            <a:pPr indent="0" marL="0">
              <a:buNone/>
            </a:pPr>
            <a:r>
              <a:rPr lang="en-US" sz="1100" i="1" dirty="0">
                <a:solidFill>
                  <a:schemeClr val="accent6"/>
                </a:solidFill>
              </a:rPr>
              <a:t>Near-miss = opposing vehicles meet in the blind bend at a closing speed above 40 km/h. Each run: 3 simulated hours, moderate traffic, clear weather. These are model results that test the logic; real benefit must be measured in a field pilot.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Implementation plan and who owns it</a:t>
            </a:r>
            <a:endParaRPr lang="en-US" sz="3200" dirty="0"/>
          </a:p>
        </p:txBody>
      </p:sp>
      <p:sp>
        <p:nvSpPr>
          <p:cNvPr id="3" name="Timeline node"/>
          <p:cNvSpPr/>
          <p:nvPr/>
        </p:nvSpPr>
        <p:spPr>
          <a:xfrm>
            <a:off x="548640" y="1508760"/>
            <a:ext cx="320040" cy="320040"/>
          </a:xfrm>
          <a:prstGeom prst="ellipse">
            <a:avLst/>
          </a:prstGeom>
          <a:solidFill>
            <a:schemeClr val="accent1"/>
          </a:solidFill>
          <a:ln w="19050">
            <a:solidFill>
              <a:schemeClr val="tx1"/>
            </a:solidFill>
            <a:prstDash val="solid"/>
          </a:ln>
        </p:spPr>
      </p:sp>
      <p:sp>
        <p:nvSpPr>
          <p:cNvPr id="4" name="Timeline line"/>
          <p:cNvSpPr/>
          <p:nvPr/>
        </p:nvSpPr>
        <p:spPr>
          <a:xfrm>
            <a:off x="868680" y="1668780"/>
            <a:ext cx="2514600" cy="0"/>
          </a:xfrm>
          <a:prstGeom prst="line">
            <a:avLst/>
          </a:prstGeom>
          <a:noFill/>
          <a:ln w="19050">
            <a:solidFill>
              <a:srgbClr val="6B747C"/>
            </a:solidFill>
            <a:prstDash val="solid"/>
          </a:ln>
        </p:spPr>
      </p:sp>
      <p:sp>
        <p:nvSpPr>
          <p:cNvPr id="5" name="Text 3"/>
          <p:cNvSpPr txBox="1"/>
          <p:nvPr/>
        </p:nvSpPr>
        <p:spPr>
          <a:xfrm>
            <a:off x="548640" y="1965960"/>
            <a:ext cx="2560320" cy="320040"/>
          </a:xfrm>
          <a:prstGeom prst="rect">
            <a:avLst/>
          </a:prstGeom>
          <a:noFill/>
          <a:ln/>
        </p:spPr>
        <p:txBody>
          <a:bodyPr wrap="square" lIns="0" tIns="0" rIns="0" bIns="0" rtlCol="0" anchor="ctr"/>
          <a:lstStyle/>
          <a:p>
            <a:pPr indent="0" marL="0">
              <a:buNone/>
            </a:pPr>
            <a:r>
              <a:rPr lang="en-US" sz="1200" b="1" spc="100" kern="0" dirty="0">
                <a:solidFill>
                  <a:schemeClr val="accent6"/>
                </a:solidFill>
              </a:rPr>
              <a:t>MONTH 1</a:t>
            </a:r>
            <a:endParaRPr lang="en-US" sz="1200" dirty="0"/>
          </a:p>
        </p:txBody>
      </p:sp>
      <p:sp>
        <p:nvSpPr>
          <p:cNvPr id="6" name="Text 4"/>
          <p:cNvSpPr txBox="1"/>
          <p:nvPr/>
        </p:nvSpPr>
        <p:spPr>
          <a:xfrm>
            <a:off x="548640" y="2286000"/>
            <a:ext cx="2560320" cy="457200"/>
          </a:xfrm>
          <a:prstGeom prst="rect">
            <a:avLst/>
          </a:prstGeom>
          <a:noFill/>
          <a:ln/>
        </p:spPr>
        <p:txBody>
          <a:bodyPr wrap="square" lIns="0" tIns="0" rIns="0" bIns="0" rtlCol="0" anchor="ctr"/>
          <a:lstStyle/>
          <a:p>
            <a:pPr indent="0" marL="0">
              <a:buNone/>
            </a:pPr>
            <a:r>
              <a:rPr lang="en-US" sz="2000" b="1" dirty="0">
                <a:solidFill>
                  <a:schemeClr val="tx1"/>
                </a:solidFill>
              </a:rPr>
              <a:t>Map bends</a:t>
            </a:r>
            <a:endParaRPr lang="en-US" sz="2000" dirty="0"/>
          </a:p>
        </p:txBody>
      </p:sp>
      <p:sp>
        <p:nvSpPr>
          <p:cNvPr id="7" name="Text 5"/>
          <p:cNvSpPr txBox="1"/>
          <p:nvPr/>
        </p:nvSpPr>
        <p:spPr>
          <a:xfrm>
            <a:off x="548640" y="2788920"/>
            <a:ext cx="2560320" cy="1554480"/>
          </a:xfrm>
          <a:prstGeom prst="rect">
            <a:avLst/>
          </a:prstGeom>
          <a:noFill/>
          <a:ln/>
        </p:spPr>
        <p:txBody>
          <a:bodyPr wrap="square" lIns="0" tIns="0" rIns="0" bIns="0" rtlCol="0" anchor="t"/>
          <a:lstStyle/>
          <a:p>
            <a:pPr indent="0" marL="0">
              <a:buNone/>
            </a:pPr>
            <a:r>
              <a:rPr lang="en-US" sz="1400" dirty="0">
                <a:solidFill>
                  <a:schemeClr val="tx2"/>
                </a:solidFill>
              </a:rPr>
              <a:t>Select 3–5 crash-prone hairpins with the road authority using police and accident records. Record each bend's geometry.</a:t>
            </a:r>
            <a:endParaRPr lang="en-US" sz="1400" dirty="0"/>
          </a:p>
        </p:txBody>
      </p:sp>
      <p:sp>
        <p:nvSpPr>
          <p:cNvPr id="8" name="Timeline node"/>
          <p:cNvSpPr/>
          <p:nvPr/>
        </p:nvSpPr>
        <p:spPr>
          <a:xfrm>
            <a:off x="3383280" y="1508760"/>
            <a:ext cx="320040" cy="320040"/>
          </a:xfrm>
          <a:prstGeom prst="ellipse">
            <a:avLst/>
          </a:prstGeom>
          <a:solidFill>
            <a:schemeClr val="accent1"/>
          </a:solidFill>
          <a:ln w="19050">
            <a:solidFill>
              <a:schemeClr val="tx1"/>
            </a:solidFill>
            <a:prstDash val="solid"/>
          </a:ln>
        </p:spPr>
      </p:sp>
      <p:sp>
        <p:nvSpPr>
          <p:cNvPr id="9" name="Timeline line"/>
          <p:cNvSpPr/>
          <p:nvPr/>
        </p:nvSpPr>
        <p:spPr>
          <a:xfrm>
            <a:off x="3703320" y="1668780"/>
            <a:ext cx="2514600" cy="0"/>
          </a:xfrm>
          <a:prstGeom prst="line">
            <a:avLst/>
          </a:prstGeom>
          <a:noFill/>
          <a:ln w="19050">
            <a:solidFill>
              <a:srgbClr val="6B747C"/>
            </a:solidFill>
            <a:prstDash val="solid"/>
          </a:ln>
        </p:spPr>
      </p:sp>
      <p:sp>
        <p:nvSpPr>
          <p:cNvPr id="10" name="Text 8"/>
          <p:cNvSpPr txBox="1"/>
          <p:nvPr/>
        </p:nvSpPr>
        <p:spPr>
          <a:xfrm>
            <a:off x="3383280" y="1965960"/>
            <a:ext cx="2560320" cy="320040"/>
          </a:xfrm>
          <a:prstGeom prst="rect">
            <a:avLst/>
          </a:prstGeom>
          <a:noFill/>
          <a:ln/>
        </p:spPr>
        <p:txBody>
          <a:bodyPr wrap="square" lIns="0" tIns="0" rIns="0" bIns="0" rtlCol="0" anchor="ctr"/>
          <a:lstStyle/>
          <a:p>
            <a:pPr indent="0" marL="0">
              <a:buNone/>
            </a:pPr>
            <a:r>
              <a:rPr lang="en-US" sz="1200" b="1" spc="100" kern="0" dirty="0">
                <a:solidFill>
                  <a:schemeClr val="accent6"/>
                </a:solidFill>
              </a:rPr>
              <a:t>MONTH 2</a:t>
            </a:r>
            <a:endParaRPr lang="en-US" sz="1200" dirty="0"/>
          </a:p>
        </p:txBody>
      </p:sp>
      <p:sp>
        <p:nvSpPr>
          <p:cNvPr id="11" name="Text 9"/>
          <p:cNvSpPr txBox="1"/>
          <p:nvPr/>
        </p:nvSpPr>
        <p:spPr>
          <a:xfrm>
            <a:off x="3383280" y="2286000"/>
            <a:ext cx="2560320" cy="457200"/>
          </a:xfrm>
          <a:prstGeom prst="rect">
            <a:avLst/>
          </a:prstGeom>
          <a:noFill/>
          <a:ln/>
        </p:spPr>
        <p:txBody>
          <a:bodyPr wrap="square" lIns="0" tIns="0" rIns="0" bIns="0" rtlCol="0" anchor="ctr"/>
          <a:lstStyle/>
          <a:p>
            <a:pPr indent="0" marL="0">
              <a:buNone/>
            </a:pPr>
            <a:r>
              <a:rPr lang="en-US" sz="2000" b="1" dirty="0">
                <a:solidFill>
                  <a:schemeClr val="tx1"/>
                </a:solidFill>
              </a:rPr>
              <a:t>Baseline</a:t>
            </a:r>
            <a:endParaRPr lang="en-US" sz="2000" dirty="0"/>
          </a:p>
        </p:txBody>
      </p:sp>
      <p:sp>
        <p:nvSpPr>
          <p:cNvPr id="12" name="Text 10"/>
          <p:cNvSpPr txBox="1"/>
          <p:nvPr/>
        </p:nvSpPr>
        <p:spPr>
          <a:xfrm>
            <a:off x="3383280" y="2788920"/>
            <a:ext cx="2560320" cy="1554480"/>
          </a:xfrm>
          <a:prstGeom prst="rect">
            <a:avLst/>
          </a:prstGeom>
          <a:noFill/>
          <a:ln/>
        </p:spPr>
        <p:txBody>
          <a:bodyPr wrap="square" lIns="0" tIns="0" rIns="0" bIns="0" rtlCol="0" anchor="t"/>
          <a:lstStyle/>
          <a:p>
            <a:pPr indent="0" marL="0">
              <a:buNone/>
            </a:pPr>
            <a:r>
              <a:rPr lang="en-US" sz="1400" dirty="0">
                <a:solidFill>
                  <a:schemeClr val="tx2"/>
                </a:solidFill>
              </a:rPr>
              <a:t>Two weeks of CCTV speed and conflict counts with the system off.</a:t>
            </a:r>
            <a:endParaRPr lang="en-US" sz="1400" dirty="0"/>
          </a:p>
        </p:txBody>
      </p:sp>
      <p:sp>
        <p:nvSpPr>
          <p:cNvPr id="13" name="Timeline node"/>
          <p:cNvSpPr/>
          <p:nvPr/>
        </p:nvSpPr>
        <p:spPr>
          <a:xfrm>
            <a:off x="6217920" y="1508760"/>
            <a:ext cx="320040" cy="320040"/>
          </a:xfrm>
          <a:prstGeom prst="ellipse">
            <a:avLst/>
          </a:prstGeom>
          <a:solidFill>
            <a:schemeClr val="accent1"/>
          </a:solidFill>
          <a:ln w="19050">
            <a:solidFill>
              <a:schemeClr val="tx1"/>
            </a:solidFill>
            <a:prstDash val="solid"/>
          </a:ln>
        </p:spPr>
      </p:sp>
      <p:sp>
        <p:nvSpPr>
          <p:cNvPr id="14" name="Timeline line"/>
          <p:cNvSpPr/>
          <p:nvPr/>
        </p:nvSpPr>
        <p:spPr>
          <a:xfrm>
            <a:off x="6537960" y="1668780"/>
            <a:ext cx="2514600" cy="0"/>
          </a:xfrm>
          <a:prstGeom prst="line">
            <a:avLst/>
          </a:prstGeom>
          <a:noFill/>
          <a:ln w="19050">
            <a:solidFill>
              <a:srgbClr val="6B747C"/>
            </a:solidFill>
            <a:prstDash val="solid"/>
          </a:ln>
        </p:spPr>
      </p:sp>
      <p:sp>
        <p:nvSpPr>
          <p:cNvPr id="15" name="Text 13"/>
          <p:cNvSpPr txBox="1"/>
          <p:nvPr/>
        </p:nvSpPr>
        <p:spPr>
          <a:xfrm>
            <a:off x="6217920" y="1965960"/>
            <a:ext cx="2560320" cy="320040"/>
          </a:xfrm>
          <a:prstGeom prst="rect">
            <a:avLst/>
          </a:prstGeom>
          <a:noFill/>
          <a:ln/>
        </p:spPr>
        <p:txBody>
          <a:bodyPr wrap="square" lIns="0" tIns="0" rIns="0" bIns="0" rtlCol="0" anchor="ctr"/>
          <a:lstStyle/>
          <a:p>
            <a:pPr indent="0" marL="0">
              <a:buNone/>
            </a:pPr>
            <a:r>
              <a:rPr lang="en-US" sz="1200" b="1" spc="100" kern="0" dirty="0">
                <a:solidFill>
                  <a:schemeClr val="accent6"/>
                </a:solidFill>
              </a:rPr>
              <a:t>MONTH 3</a:t>
            </a:r>
            <a:endParaRPr lang="en-US" sz="1200" dirty="0"/>
          </a:p>
        </p:txBody>
      </p:sp>
      <p:sp>
        <p:nvSpPr>
          <p:cNvPr id="16" name="Text 14"/>
          <p:cNvSpPr txBox="1"/>
          <p:nvPr/>
        </p:nvSpPr>
        <p:spPr>
          <a:xfrm>
            <a:off x="6217920" y="2286000"/>
            <a:ext cx="2560320" cy="457200"/>
          </a:xfrm>
          <a:prstGeom prst="rect">
            <a:avLst/>
          </a:prstGeom>
          <a:noFill/>
          <a:ln/>
        </p:spPr>
        <p:txBody>
          <a:bodyPr wrap="square" lIns="0" tIns="0" rIns="0" bIns="0" rtlCol="0" anchor="ctr"/>
          <a:lstStyle/>
          <a:p>
            <a:pPr indent="0" marL="0">
              <a:buNone/>
            </a:pPr>
            <a:r>
              <a:rPr lang="en-US" sz="2000" b="1" dirty="0">
                <a:solidFill>
                  <a:schemeClr val="tx1"/>
                </a:solidFill>
              </a:rPr>
              <a:t>Launch</a:t>
            </a:r>
            <a:endParaRPr lang="en-US" sz="2000" dirty="0"/>
          </a:p>
        </p:txBody>
      </p:sp>
      <p:sp>
        <p:nvSpPr>
          <p:cNvPr id="17" name="Text 15"/>
          <p:cNvSpPr txBox="1"/>
          <p:nvPr/>
        </p:nvSpPr>
        <p:spPr>
          <a:xfrm>
            <a:off x="6217920" y="2788920"/>
            <a:ext cx="2560320" cy="1554480"/>
          </a:xfrm>
          <a:prstGeom prst="rect">
            <a:avLst/>
          </a:prstGeom>
          <a:noFill/>
          <a:ln/>
        </p:spPr>
        <p:txBody>
          <a:bodyPr wrap="square" lIns="0" tIns="0" rIns="0" bIns="0" rtlCol="0" anchor="t"/>
          <a:lstStyle/>
          <a:p>
            <a:pPr indent="0" marL="0">
              <a:buNone/>
            </a:pPr>
            <a:r>
              <a:rPr lang="en-US" sz="1400" dirty="0">
                <a:solidFill>
                  <a:schemeClr val="tx2"/>
                </a:solidFill>
              </a:rPr>
              <a:t>Release the app to APSRTC bus and goods-vehicle drivers first — high mileage on ghat roads, easy to reach through depots.</a:t>
            </a:r>
            <a:endParaRPr lang="en-US" sz="1400" dirty="0"/>
          </a:p>
        </p:txBody>
      </p:sp>
      <p:sp>
        <p:nvSpPr>
          <p:cNvPr id="18" name="Timeline node"/>
          <p:cNvSpPr/>
          <p:nvPr/>
        </p:nvSpPr>
        <p:spPr>
          <a:xfrm>
            <a:off x="9052560" y="1508760"/>
            <a:ext cx="320040" cy="320040"/>
          </a:xfrm>
          <a:prstGeom prst="ellipse">
            <a:avLst/>
          </a:prstGeom>
          <a:solidFill>
            <a:schemeClr val="accent1"/>
          </a:solidFill>
          <a:ln w="19050">
            <a:solidFill>
              <a:schemeClr val="tx1"/>
            </a:solidFill>
            <a:prstDash val="solid"/>
          </a:ln>
        </p:spPr>
      </p:sp>
      <p:sp>
        <p:nvSpPr>
          <p:cNvPr id="19" name="Text 17"/>
          <p:cNvSpPr txBox="1"/>
          <p:nvPr/>
        </p:nvSpPr>
        <p:spPr>
          <a:xfrm>
            <a:off x="9052560" y="1965960"/>
            <a:ext cx="2560320" cy="320040"/>
          </a:xfrm>
          <a:prstGeom prst="rect">
            <a:avLst/>
          </a:prstGeom>
          <a:noFill/>
          <a:ln/>
        </p:spPr>
        <p:txBody>
          <a:bodyPr wrap="square" lIns="0" tIns="0" rIns="0" bIns="0" rtlCol="0" anchor="ctr"/>
          <a:lstStyle/>
          <a:p>
            <a:pPr indent="0" marL="0">
              <a:buNone/>
            </a:pPr>
            <a:r>
              <a:rPr lang="en-US" sz="1200" b="1" spc="100" kern="0" dirty="0">
                <a:solidFill>
                  <a:schemeClr val="accent6"/>
                </a:solidFill>
              </a:rPr>
              <a:t>MONTH 4</a:t>
            </a:r>
            <a:endParaRPr lang="en-US" sz="1200" dirty="0"/>
          </a:p>
        </p:txBody>
      </p:sp>
      <p:sp>
        <p:nvSpPr>
          <p:cNvPr id="20" name="Text 18"/>
          <p:cNvSpPr txBox="1"/>
          <p:nvPr/>
        </p:nvSpPr>
        <p:spPr>
          <a:xfrm>
            <a:off x="9052560" y="2286000"/>
            <a:ext cx="2560320" cy="457200"/>
          </a:xfrm>
          <a:prstGeom prst="rect">
            <a:avLst/>
          </a:prstGeom>
          <a:noFill/>
          <a:ln/>
        </p:spPr>
        <p:txBody>
          <a:bodyPr wrap="square" lIns="0" tIns="0" rIns="0" bIns="0" rtlCol="0" anchor="ctr"/>
          <a:lstStyle/>
          <a:p>
            <a:pPr indent="0" marL="0">
              <a:buNone/>
            </a:pPr>
            <a:r>
              <a:rPr lang="en-US" sz="2000" b="1" dirty="0">
                <a:solidFill>
                  <a:schemeClr val="tx1"/>
                </a:solidFill>
              </a:rPr>
              <a:t>Measure</a:t>
            </a:r>
            <a:endParaRPr lang="en-US" sz="2000" dirty="0"/>
          </a:p>
        </p:txBody>
      </p:sp>
      <p:sp>
        <p:nvSpPr>
          <p:cNvPr id="21" name="Text 19"/>
          <p:cNvSpPr txBox="1"/>
          <p:nvPr/>
        </p:nvSpPr>
        <p:spPr>
          <a:xfrm>
            <a:off x="9052560" y="2788920"/>
            <a:ext cx="2560320" cy="1554480"/>
          </a:xfrm>
          <a:prstGeom prst="rect">
            <a:avLst/>
          </a:prstGeom>
          <a:noFill/>
          <a:ln/>
        </p:spPr>
        <p:txBody>
          <a:bodyPr wrap="square" lIns="0" tIns="0" rIns="0" bIns="0" rtlCol="0" anchor="t"/>
          <a:lstStyle/>
          <a:p>
            <a:pPr indent="0" marL="0">
              <a:buNone/>
            </a:pPr>
            <a:r>
              <a:rPr lang="en-US" sz="1400" dirty="0">
                <a:solidFill>
                  <a:schemeClr val="tx2"/>
                </a:solidFill>
              </a:rPr>
              <a:t>Four weeks with the system on. Compare near-miss rate, approach speed and overspeed share with the baseline.</a:t>
            </a:r>
            <a:endParaRPr lang="en-US" sz="1400" dirty="0"/>
          </a:p>
        </p:txBody>
      </p:sp>
      <p:sp>
        <p:nvSpPr>
          <p:cNvPr id="22" name="Stakeholder card"/>
          <p:cNvSpPr/>
          <p:nvPr/>
        </p:nvSpPr>
        <p:spPr>
          <a:xfrm>
            <a:off x="548640" y="4572000"/>
            <a:ext cx="11064240" cy="1417320"/>
          </a:xfrm>
          <a:prstGeom prst="roundRect">
            <a:avLst>
              <a:gd name="adj" fmla="val 6452"/>
            </a:avLst>
          </a:prstGeom>
          <a:solidFill>
            <a:schemeClr val="bg2"/>
          </a:solidFill>
          <a:ln/>
        </p:spPr>
      </p:sp>
      <p:sp>
        <p:nvSpPr>
          <p:cNvPr id="23" name="Text 21"/>
          <p:cNvSpPr txBox="1"/>
          <p:nvPr/>
        </p:nvSpPr>
        <p:spPr>
          <a:xfrm>
            <a:off x="777240" y="4663440"/>
            <a:ext cx="10607040" cy="1234440"/>
          </a:xfrm>
          <a:prstGeom prst="rect">
            <a:avLst/>
          </a:prstGeom>
          <a:noFill/>
          <a:ln/>
        </p:spPr>
        <p:txBody>
          <a:bodyPr wrap="square" lIns="0" tIns="0" rIns="0" bIns="0" rtlCol="0" anchor="ctr"/>
          <a:lstStyle/>
          <a:p>
            <a:pPr indent="0" marL="0">
              <a:buNone/>
            </a:pPr>
            <a:r>
              <a:rPr lang="en-US" sz="1400" b="1" dirty="0">
                <a:solidFill>
                  <a:schemeClr val="tx1"/>
                </a:solidFill>
              </a:rPr>
              <a:t>Responsible stakeholders: </a:t>
            </a:r>
            <a:pPr indent="0" marL="0">
              <a:buNone/>
            </a:pPr>
            <a:r>
              <a:rPr lang="en-US" sz="1400" dirty="0">
                <a:solidFill>
                  <a:schemeClr val="tx1"/>
                </a:solidFill>
              </a:rPr>
              <a:t>AP Roads &amp; Buildings Department and NHAI (bend data, approvals, signs), Ministry of Road Transport &amp; Highways (road-safety programmes), traffic police (enforcement data), APSRTC (first driver group). The challenge lists MoHUA as a suggested alignment; for ghat roads, the road-owning agencies above are the right owners.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Measurable public-service outcomes</a:t>
            </a:r>
            <a:endParaRPr lang="en-US" sz="3200" dirty="0"/>
          </a:p>
        </p:txBody>
      </p:sp>
      <p:sp>
        <p:nvSpPr>
          <p:cNvPr id="3" name="KPI 1"/>
          <p:cNvSpPr/>
          <p:nvPr/>
        </p:nvSpPr>
        <p:spPr>
          <a:xfrm>
            <a:off x="548640" y="1463040"/>
            <a:ext cx="3474720" cy="1920240"/>
          </a:xfrm>
          <a:prstGeom prst="roundRect">
            <a:avLst>
              <a:gd name="adj" fmla="val 4762"/>
            </a:avLst>
          </a:prstGeom>
          <a:solidFill>
            <a:schemeClr val="bg2"/>
          </a:solidFill>
          <a:ln/>
        </p:spPr>
      </p:sp>
      <p:sp>
        <p:nvSpPr>
          <p:cNvPr id="4" name="Warning diamond"/>
          <p:cNvSpPr/>
          <p:nvPr/>
        </p:nvSpPr>
        <p:spPr>
          <a:xfrm rot="2700000">
            <a:off x="822960" y="1737360"/>
            <a:ext cx="411480" cy="411480"/>
          </a:xfrm>
          <a:prstGeom prst="rect">
            <a:avLst/>
          </a:prstGeom>
          <a:solidFill>
            <a:schemeClr val="accent1"/>
          </a:solidFill>
          <a:ln w="15875">
            <a:solidFill>
              <a:schemeClr val="tx1"/>
            </a:solidFill>
            <a:prstDash val="solid"/>
          </a:ln>
        </p:spPr>
      </p:sp>
      <p:sp>
        <p:nvSpPr>
          <p:cNvPr id="5" name="Text 3"/>
          <p:cNvSpPr txBox="1"/>
          <p:nvPr/>
        </p:nvSpPr>
        <p:spPr>
          <a:xfrm>
            <a:off x="1463040" y="1691640"/>
            <a:ext cx="2377440" cy="502920"/>
          </a:xfrm>
          <a:prstGeom prst="rect">
            <a:avLst/>
          </a:prstGeom>
          <a:noFill/>
          <a:ln/>
        </p:spPr>
        <p:txBody>
          <a:bodyPr wrap="square" lIns="0" tIns="0" rIns="0" bIns="0" rtlCol="0" anchor="ctr"/>
          <a:lstStyle/>
          <a:p>
            <a:pPr indent="0" marL="0">
              <a:buNone/>
            </a:pPr>
            <a:r>
              <a:rPr lang="en-US" sz="1900" b="1" dirty="0">
                <a:solidFill>
                  <a:schemeClr val="tx1"/>
                </a:solidFill>
              </a:rPr>
              <a:t>Near-miss rate</a:t>
            </a:r>
            <a:endParaRPr lang="en-US" sz="1900" dirty="0"/>
          </a:p>
        </p:txBody>
      </p:sp>
      <p:sp>
        <p:nvSpPr>
          <p:cNvPr id="6" name="Text 4"/>
          <p:cNvSpPr txBox="1"/>
          <p:nvPr/>
        </p:nvSpPr>
        <p:spPr>
          <a:xfrm>
            <a:off x="822960" y="2331720"/>
            <a:ext cx="2971800" cy="960120"/>
          </a:xfrm>
          <a:prstGeom prst="rect">
            <a:avLst/>
          </a:prstGeom>
          <a:noFill/>
          <a:ln/>
        </p:spPr>
        <p:txBody>
          <a:bodyPr wrap="square" lIns="0" tIns="0" rIns="0" bIns="0" rtlCol="0" anchor="t"/>
          <a:lstStyle/>
          <a:p>
            <a:pPr indent="0" marL="0">
              <a:buNone/>
            </a:pPr>
            <a:r>
              <a:rPr lang="en-US" sz="1400" dirty="0">
                <a:solidFill>
                  <a:schemeClr val="tx2"/>
                </a:solidFill>
              </a:rPr>
              <a:t>Opposing meetings in the bend above 40 km/h closing speed, from CCTV</a:t>
            </a:r>
            <a:endParaRPr lang="en-US" sz="1400" dirty="0"/>
          </a:p>
        </p:txBody>
      </p:sp>
      <p:sp>
        <p:nvSpPr>
          <p:cNvPr id="7" name="KPI 2"/>
          <p:cNvSpPr/>
          <p:nvPr/>
        </p:nvSpPr>
        <p:spPr>
          <a:xfrm>
            <a:off x="4297680" y="1463040"/>
            <a:ext cx="3474720" cy="1920240"/>
          </a:xfrm>
          <a:prstGeom prst="roundRect">
            <a:avLst>
              <a:gd name="adj" fmla="val 4762"/>
            </a:avLst>
          </a:prstGeom>
          <a:solidFill>
            <a:schemeClr val="bg2"/>
          </a:solidFill>
          <a:ln/>
        </p:spPr>
      </p:sp>
      <p:sp>
        <p:nvSpPr>
          <p:cNvPr id="8" name="Warning diamond"/>
          <p:cNvSpPr/>
          <p:nvPr/>
        </p:nvSpPr>
        <p:spPr>
          <a:xfrm rot="2700000">
            <a:off x="4572000" y="1737360"/>
            <a:ext cx="411480" cy="411480"/>
          </a:xfrm>
          <a:prstGeom prst="rect">
            <a:avLst/>
          </a:prstGeom>
          <a:solidFill>
            <a:schemeClr val="accent1"/>
          </a:solidFill>
          <a:ln w="15875">
            <a:solidFill>
              <a:schemeClr val="tx1"/>
            </a:solidFill>
            <a:prstDash val="solid"/>
          </a:ln>
        </p:spPr>
      </p:sp>
      <p:sp>
        <p:nvSpPr>
          <p:cNvPr id="9" name="Text 7"/>
          <p:cNvSpPr txBox="1"/>
          <p:nvPr/>
        </p:nvSpPr>
        <p:spPr>
          <a:xfrm>
            <a:off x="5212080" y="1691640"/>
            <a:ext cx="2377440" cy="502920"/>
          </a:xfrm>
          <a:prstGeom prst="rect">
            <a:avLst/>
          </a:prstGeom>
          <a:noFill/>
          <a:ln/>
        </p:spPr>
        <p:txBody>
          <a:bodyPr wrap="square" lIns="0" tIns="0" rIns="0" bIns="0" rtlCol="0" anchor="ctr"/>
          <a:lstStyle/>
          <a:p>
            <a:pPr indent="0" marL="0">
              <a:buNone/>
            </a:pPr>
            <a:r>
              <a:rPr lang="en-US" sz="1900" b="1" dirty="0">
                <a:solidFill>
                  <a:schemeClr val="tx1"/>
                </a:solidFill>
              </a:rPr>
              <a:t>Approach speed</a:t>
            </a:r>
            <a:endParaRPr lang="en-US" sz="1900" dirty="0"/>
          </a:p>
        </p:txBody>
      </p:sp>
      <p:sp>
        <p:nvSpPr>
          <p:cNvPr id="10" name="Text 8"/>
          <p:cNvSpPr txBox="1"/>
          <p:nvPr/>
        </p:nvSpPr>
        <p:spPr>
          <a:xfrm>
            <a:off x="4572000" y="2331720"/>
            <a:ext cx="2971800" cy="960120"/>
          </a:xfrm>
          <a:prstGeom prst="rect">
            <a:avLst/>
          </a:prstGeom>
          <a:noFill/>
          <a:ln/>
        </p:spPr>
        <p:txBody>
          <a:bodyPr wrap="square" lIns="0" tIns="0" rIns="0" bIns="0" rtlCol="0" anchor="t"/>
          <a:lstStyle/>
          <a:p>
            <a:pPr indent="0" marL="0">
              <a:buNone/>
            </a:pPr>
            <a:r>
              <a:rPr lang="en-US" sz="1400" dirty="0">
                <a:solidFill>
                  <a:schemeClr val="tx2"/>
                </a:solidFill>
              </a:rPr>
              <a:t>Average and 85th-percentile speed at zone entry</a:t>
            </a:r>
            <a:endParaRPr lang="en-US" sz="1400" dirty="0"/>
          </a:p>
        </p:txBody>
      </p:sp>
      <p:sp>
        <p:nvSpPr>
          <p:cNvPr id="11" name="KPI 3"/>
          <p:cNvSpPr/>
          <p:nvPr/>
        </p:nvSpPr>
        <p:spPr>
          <a:xfrm>
            <a:off x="8046720" y="1463040"/>
            <a:ext cx="3474720" cy="1920240"/>
          </a:xfrm>
          <a:prstGeom prst="roundRect">
            <a:avLst>
              <a:gd name="adj" fmla="val 4762"/>
            </a:avLst>
          </a:prstGeom>
          <a:solidFill>
            <a:schemeClr val="bg2"/>
          </a:solidFill>
          <a:ln/>
        </p:spPr>
      </p:sp>
      <p:sp>
        <p:nvSpPr>
          <p:cNvPr id="12" name="Warning diamond"/>
          <p:cNvSpPr/>
          <p:nvPr/>
        </p:nvSpPr>
        <p:spPr>
          <a:xfrm rot="2700000">
            <a:off x="8321040" y="1737360"/>
            <a:ext cx="411480" cy="411480"/>
          </a:xfrm>
          <a:prstGeom prst="rect">
            <a:avLst/>
          </a:prstGeom>
          <a:solidFill>
            <a:schemeClr val="accent1"/>
          </a:solidFill>
          <a:ln w="15875">
            <a:solidFill>
              <a:schemeClr val="tx1"/>
            </a:solidFill>
            <a:prstDash val="solid"/>
          </a:ln>
        </p:spPr>
      </p:sp>
      <p:sp>
        <p:nvSpPr>
          <p:cNvPr id="13" name="Text 11"/>
          <p:cNvSpPr txBox="1"/>
          <p:nvPr/>
        </p:nvSpPr>
        <p:spPr>
          <a:xfrm>
            <a:off x="8961120" y="1691640"/>
            <a:ext cx="2377440" cy="502920"/>
          </a:xfrm>
          <a:prstGeom prst="rect">
            <a:avLst/>
          </a:prstGeom>
          <a:noFill/>
          <a:ln/>
        </p:spPr>
        <p:txBody>
          <a:bodyPr wrap="square" lIns="0" tIns="0" rIns="0" bIns="0" rtlCol="0" anchor="ctr"/>
          <a:lstStyle/>
          <a:p>
            <a:pPr indent="0" marL="0">
              <a:buNone/>
            </a:pPr>
            <a:r>
              <a:rPr lang="en-US" sz="1900" b="1" dirty="0">
                <a:solidFill>
                  <a:schemeClr val="tx1"/>
                </a:solidFill>
              </a:rPr>
              <a:t>Overspeed share</a:t>
            </a:r>
            <a:endParaRPr lang="en-US" sz="1900" dirty="0"/>
          </a:p>
        </p:txBody>
      </p:sp>
      <p:sp>
        <p:nvSpPr>
          <p:cNvPr id="14" name="Text 12"/>
          <p:cNvSpPr txBox="1"/>
          <p:nvPr/>
        </p:nvSpPr>
        <p:spPr>
          <a:xfrm>
            <a:off x="8321040" y="2331720"/>
            <a:ext cx="2971800" cy="960120"/>
          </a:xfrm>
          <a:prstGeom prst="rect">
            <a:avLst/>
          </a:prstGeom>
          <a:noFill/>
          <a:ln/>
        </p:spPr>
        <p:txBody>
          <a:bodyPr wrap="square" lIns="0" tIns="0" rIns="0" bIns="0" rtlCol="0" anchor="t"/>
          <a:lstStyle/>
          <a:p>
            <a:pPr indent="0" marL="0">
              <a:buNone/>
            </a:pPr>
            <a:r>
              <a:rPr lang="en-US" sz="1400" dirty="0">
                <a:solidFill>
                  <a:schemeClr val="tx2"/>
                </a:solidFill>
              </a:rPr>
              <a:t>Percentage of app users above the advisory speed</a:t>
            </a:r>
            <a:endParaRPr lang="en-US" sz="1400" dirty="0"/>
          </a:p>
        </p:txBody>
      </p:sp>
      <p:sp>
        <p:nvSpPr>
          <p:cNvPr id="15" name="KPI 4"/>
          <p:cNvSpPr/>
          <p:nvPr/>
        </p:nvSpPr>
        <p:spPr>
          <a:xfrm>
            <a:off x="548640" y="3657600"/>
            <a:ext cx="3474720" cy="1920240"/>
          </a:xfrm>
          <a:prstGeom prst="roundRect">
            <a:avLst>
              <a:gd name="adj" fmla="val 4762"/>
            </a:avLst>
          </a:prstGeom>
          <a:solidFill>
            <a:schemeClr val="bg2"/>
          </a:solidFill>
          <a:ln/>
        </p:spPr>
      </p:sp>
      <p:sp>
        <p:nvSpPr>
          <p:cNvPr id="16" name="Warning diamond"/>
          <p:cNvSpPr/>
          <p:nvPr/>
        </p:nvSpPr>
        <p:spPr>
          <a:xfrm rot="2700000">
            <a:off x="822960" y="3931920"/>
            <a:ext cx="411480" cy="411480"/>
          </a:xfrm>
          <a:prstGeom prst="rect">
            <a:avLst/>
          </a:prstGeom>
          <a:solidFill>
            <a:schemeClr val="accent1"/>
          </a:solidFill>
          <a:ln w="15875">
            <a:solidFill>
              <a:schemeClr val="tx1"/>
            </a:solidFill>
            <a:prstDash val="solid"/>
          </a:ln>
        </p:spPr>
      </p:sp>
      <p:sp>
        <p:nvSpPr>
          <p:cNvPr id="17" name="Text 15"/>
          <p:cNvSpPr txBox="1"/>
          <p:nvPr/>
        </p:nvSpPr>
        <p:spPr>
          <a:xfrm>
            <a:off x="1463040" y="3886200"/>
            <a:ext cx="2377440" cy="502920"/>
          </a:xfrm>
          <a:prstGeom prst="rect">
            <a:avLst/>
          </a:prstGeom>
          <a:noFill/>
          <a:ln/>
        </p:spPr>
        <p:txBody>
          <a:bodyPr wrap="square" lIns="0" tIns="0" rIns="0" bIns="0" rtlCol="0" anchor="ctr"/>
          <a:lstStyle/>
          <a:p>
            <a:pPr indent="0" marL="0">
              <a:buNone/>
            </a:pPr>
            <a:r>
              <a:rPr lang="en-US" sz="1900" b="1" dirty="0">
                <a:solidFill>
                  <a:schemeClr val="tx1"/>
                </a:solidFill>
              </a:rPr>
              <a:t>Coverage</a:t>
            </a:r>
            <a:endParaRPr lang="en-US" sz="1900" dirty="0"/>
          </a:p>
        </p:txBody>
      </p:sp>
      <p:sp>
        <p:nvSpPr>
          <p:cNvPr id="18" name="Text 16"/>
          <p:cNvSpPr txBox="1"/>
          <p:nvPr/>
        </p:nvSpPr>
        <p:spPr>
          <a:xfrm>
            <a:off x="822960" y="4526280"/>
            <a:ext cx="2971800" cy="960120"/>
          </a:xfrm>
          <a:prstGeom prst="rect">
            <a:avLst/>
          </a:prstGeom>
          <a:noFill/>
          <a:ln/>
        </p:spPr>
        <p:txBody>
          <a:bodyPr wrap="square" lIns="0" tIns="0" rIns="0" bIns="0" rtlCol="0" anchor="t"/>
          <a:lstStyle/>
          <a:p>
            <a:pPr indent="0" marL="0">
              <a:buNone/>
            </a:pPr>
            <a:r>
              <a:rPr lang="en-US" sz="1400" dirty="0">
                <a:solidFill>
                  <a:schemeClr val="tx2"/>
                </a:solidFill>
              </a:rPr>
              <a:t>Share of vehicles detected by app or camera</a:t>
            </a:r>
            <a:endParaRPr lang="en-US" sz="1400" dirty="0"/>
          </a:p>
        </p:txBody>
      </p:sp>
      <p:sp>
        <p:nvSpPr>
          <p:cNvPr id="19" name="KPI 5"/>
          <p:cNvSpPr/>
          <p:nvPr/>
        </p:nvSpPr>
        <p:spPr>
          <a:xfrm>
            <a:off x="4297680" y="3657600"/>
            <a:ext cx="3474720" cy="1920240"/>
          </a:xfrm>
          <a:prstGeom prst="roundRect">
            <a:avLst>
              <a:gd name="adj" fmla="val 4762"/>
            </a:avLst>
          </a:prstGeom>
          <a:solidFill>
            <a:schemeClr val="bg2"/>
          </a:solidFill>
          <a:ln/>
        </p:spPr>
      </p:sp>
      <p:sp>
        <p:nvSpPr>
          <p:cNvPr id="20" name="Warning diamond"/>
          <p:cNvSpPr/>
          <p:nvPr/>
        </p:nvSpPr>
        <p:spPr>
          <a:xfrm rot="2700000">
            <a:off x="4572000" y="3931920"/>
            <a:ext cx="411480" cy="411480"/>
          </a:xfrm>
          <a:prstGeom prst="rect">
            <a:avLst/>
          </a:prstGeom>
          <a:solidFill>
            <a:schemeClr val="accent1"/>
          </a:solidFill>
          <a:ln w="15875">
            <a:solidFill>
              <a:schemeClr val="tx1"/>
            </a:solidFill>
            <a:prstDash val="solid"/>
          </a:ln>
        </p:spPr>
      </p:sp>
      <p:sp>
        <p:nvSpPr>
          <p:cNvPr id="21" name="Text 19"/>
          <p:cNvSpPr txBox="1"/>
          <p:nvPr/>
        </p:nvSpPr>
        <p:spPr>
          <a:xfrm>
            <a:off x="5212080" y="3886200"/>
            <a:ext cx="2377440" cy="502920"/>
          </a:xfrm>
          <a:prstGeom prst="rect">
            <a:avLst/>
          </a:prstGeom>
          <a:noFill/>
          <a:ln/>
        </p:spPr>
        <p:txBody>
          <a:bodyPr wrap="square" lIns="0" tIns="0" rIns="0" bIns="0" rtlCol="0" anchor="ctr"/>
          <a:lstStyle/>
          <a:p>
            <a:pPr indent="0" marL="0">
              <a:buNone/>
            </a:pPr>
            <a:r>
              <a:rPr lang="en-US" sz="1900" b="1" dirty="0">
                <a:solidFill>
                  <a:schemeClr val="tx1"/>
                </a:solidFill>
              </a:rPr>
              <a:t>Alert delay</a:t>
            </a:r>
            <a:endParaRPr lang="en-US" sz="1900" dirty="0"/>
          </a:p>
        </p:txBody>
      </p:sp>
      <p:sp>
        <p:nvSpPr>
          <p:cNvPr id="22" name="Text 20"/>
          <p:cNvSpPr txBox="1"/>
          <p:nvPr/>
        </p:nvSpPr>
        <p:spPr>
          <a:xfrm>
            <a:off x="4572000" y="4526280"/>
            <a:ext cx="2971800" cy="960120"/>
          </a:xfrm>
          <a:prstGeom prst="rect">
            <a:avLst/>
          </a:prstGeom>
          <a:noFill/>
          <a:ln/>
        </p:spPr>
        <p:txBody>
          <a:bodyPr wrap="square" lIns="0" tIns="0" rIns="0" bIns="0" rtlCol="0" anchor="t"/>
          <a:lstStyle/>
          <a:p>
            <a:pPr indent="0" marL="0">
              <a:buNone/>
            </a:pPr>
            <a:r>
              <a:rPr lang="en-US" sz="1400" dirty="0">
                <a:solidFill>
                  <a:schemeClr val="tx2"/>
                </a:solidFill>
              </a:rPr>
              <a:t>Time from zone entry to warning on the opposite side (target under 2 s)</a:t>
            </a:r>
            <a:endParaRPr lang="en-US" sz="1400" dirty="0"/>
          </a:p>
        </p:txBody>
      </p:sp>
      <p:sp>
        <p:nvSpPr>
          <p:cNvPr id="23" name="KPI 6"/>
          <p:cNvSpPr/>
          <p:nvPr/>
        </p:nvSpPr>
        <p:spPr>
          <a:xfrm>
            <a:off x="8046720" y="3657600"/>
            <a:ext cx="3474720" cy="1920240"/>
          </a:xfrm>
          <a:prstGeom prst="roundRect">
            <a:avLst>
              <a:gd name="adj" fmla="val 4762"/>
            </a:avLst>
          </a:prstGeom>
          <a:solidFill>
            <a:schemeClr val="bg2"/>
          </a:solidFill>
          <a:ln/>
        </p:spPr>
      </p:sp>
      <p:sp>
        <p:nvSpPr>
          <p:cNvPr id="24" name="Warning diamond"/>
          <p:cNvSpPr/>
          <p:nvPr/>
        </p:nvSpPr>
        <p:spPr>
          <a:xfrm rot="2700000">
            <a:off x="8321040" y="3931920"/>
            <a:ext cx="411480" cy="411480"/>
          </a:xfrm>
          <a:prstGeom prst="rect">
            <a:avLst/>
          </a:prstGeom>
          <a:solidFill>
            <a:schemeClr val="accent1"/>
          </a:solidFill>
          <a:ln w="15875">
            <a:solidFill>
              <a:schemeClr val="tx1"/>
            </a:solidFill>
            <a:prstDash val="solid"/>
          </a:ln>
        </p:spPr>
      </p:sp>
      <p:sp>
        <p:nvSpPr>
          <p:cNvPr id="25" name="Text 23"/>
          <p:cNvSpPr txBox="1"/>
          <p:nvPr/>
        </p:nvSpPr>
        <p:spPr>
          <a:xfrm>
            <a:off x="8961120" y="3886200"/>
            <a:ext cx="2377440" cy="502920"/>
          </a:xfrm>
          <a:prstGeom prst="rect">
            <a:avLst/>
          </a:prstGeom>
          <a:noFill/>
          <a:ln/>
        </p:spPr>
        <p:txBody>
          <a:bodyPr wrap="square" lIns="0" tIns="0" rIns="0" bIns="0" rtlCol="0" anchor="ctr"/>
          <a:lstStyle/>
          <a:p>
            <a:pPr indent="0" marL="0">
              <a:buNone/>
            </a:pPr>
            <a:r>
              <a:rPr lang="en-US" sz="1900" b="1" dirty="0">
                <a:solidFill>
                  <a:schemeClr val="tx1"/>
                </a:solidFill>
              </a:rPr>
              <a:t>Cost per bend</a:t>
            </a:r>
            <a:endParaRPr lang="en-US" sz="1900" dirty="0"/>
          </a:p>
        </p:txBody>
      </p:sp>
      <p:sp>
        <p:nvSpPr>
          <p:cNvPr id="26" name="Text 24"/>
          <p:cNvSpPr txBox="1"/>
          <p:nvPr/>
        </p:nvSpPr>
        <p:spPr>
          <a:xfrm>
            <a:off x="8321040" y="4526280"/>
            <a:ext cx="2971800" cy="960120"/>
          </a:xfrm>
          <a:prstGeom prst="rect">
            <a:avLst/>
          </a:prstGeom>
          <a:noFill/>
          <a:ln/>
        </p:spPr>
        <p:txBody>
          <a:bodyPr wrap="square" lIns="0" tIns="0" rIns="0" bIns="0" rtlCol="0" anchor="t"/>
          <a:lstStyle/>
          <a:p>
            <a:pPr indent="0" marL="0">
              <a:buNone/>
            </a:pPr>
            <a:r>
              <a:rPr lang="en-US" sz="1400" dirty="0">
                <a:solidFill>
                  <a:schemeClr val="tx2"/>
                </a:solidFill>
              </a:rPr>
              <a:t>Hosting and maintenance cost compared with a hardware unit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Assumptions, limits and safety</a:t>
            </a:r>
            <a:endParaRPr lang="en-US" sz="3200" dirty="0"/>
          </a:p>
        </p:txBody>
      </p:sp>
      <p:sp>
        <p:nvSpPr>
          <p:cNvPr id="3" name="Text 1"/>
          <p:cNvSpPr txBox="1"/>
          <p:nvPr/>
        </p:nvSpPr>
        <p:spPr>
          <a:xfrm>
            <a:off x="548640" y="1417320"/>
            <a:ext cx="2560320" cy="777240"/>
          </a:xfrm>
          <a:prstGeom prst="rect">
            <a:avLst/>
          </a:prstGeom>
          <a:noFill/>
          <a:ln/>
        </p:spPr>
        <p:txBody>
          <a:bodyPr wrap="square" lIns="0" tIns="0" rIns="0" bIns="0" rtlCol="0" anchor="ctr"/>
          <a:lstStyle/>
          <a:p>
            <a:pPr indent="0" marL="0">
              <a:buNone/>
            </a:pPr>
            <a:r>
              <a:rPr lang="en-US" sz="1800" b="1" dirty="0">
                <a:solidFill>
                  <a:schemeClr val="accent2"/>
                </a:solidFill>
              </a:rPr>
              <a:t>Adoption</a:t>
            </a:r>
            <a:endParaRPr lang="en-US" sz="1800" dirty="0"/>
          </a:p>
        </p:txBody>
      </p:sp>
      <p:sp>
        <p:nvSpPr>
          <p:cNvPr id="4" name="Text 2"/>
          <p:cNvSpPr txBox="1"/>
          <p:nvPr/>
        </p:nvSpPr>
        <p:spPr>
          <a:xfrm>
            <a:off x="3200400" y="1417320"/>
            <a:ext cx="8412480" cy="777240"/>
          </a:xfrm>
          <a:prstGeom prst="rect">
            <a:avLst/>
          </a:prstGeom>
          <a:noFill/>
          <a:ln/>
        </p:spPr>
        <p:txBody>
          <a:bodyPr wrap="square" lIns="0" tIns="0" rIns="0" bIns="0" rtlCol="0" anchor="ctr"/>
          <a:lstStyle/>
          <a:p>
            <a:pPr indent="0" marL="0">
              <a:buNone/>
            </a:pPr>
            <a:r>
              <a:rPr lang="en-US" sz="1600" dirty="0">
                <a:solidFill>
                  <a:schemeClr val="tx1"/>
                </a:solidFill>
              </a:rPr>
              <a:t>Drivers without the app are invisible unless a camera covers the bend. That is why CCTV is part of the design.</a:t>
            </a:r>
            <a:endParaRPr lang="en-US" sz="1600" dirty="0"/>
          </a:p>
        </p:txBody>
      </p:sp>
      <p:sp>
        <p:nvSpPr>
          <p:cNvPr id="5" name="Text 3"/>
          <p:cNvSpPr txBox="1"/>
          <p:nvPr/>
        </p:nvSpPr>
        <p:spPr>
          <a:xfrm>
            <a:off x="548640" y="2350008"/>
            <a:ext cx="2560320" cy="777240"/>
          </a:xfrm>
          <a:prstGeom prst="rect">
            <a:avLst/>
          </a:prstGeom>
          <a:noFill/>
          <a:ln/>
        </p:spPr>
        <p:txBody>
          <a:bodyPr wrap="square" lIns="0" tIns="0" rIns="0" bIns="0" rtlCol="0" anchor="ctr"/>
          <a:lstStyle/>
          <a:p>
            <a:pPr indent="0" marL="0">
              <a:buNone/>
            </a:pPr>
            <a:r>
              <a:rPr lang="en-US" sz="1800" b="1" dirty="0">
                <a:solidFill>
                  <a:schemeClr val="accent2"/>
                </a:solidFill>
              </a:rPr>
              <a:t>GPS accuracy</a:t>
            </a:r>
            <a:endParaRPr lang="en-US" sz="1800" dirty="0"/>
          </a:p>
        </p:txBody>
      </p:sp>
      <p:sp>
        <p:nvSpPr>
          <p:cNvPr id="6" name="Text 4"/>
          <p:cNvSpPr txBox="1"/>
          <p:nvPr/>
        </p:nvSpPr>
        <p:spPr>
          <a:xfrm>
            <a:off x="3200400" y="2350008"/>
            <a:ext cx="8412480" cy="777240"/>
          </a:xfrm>
          <a:prstGeom prst="rect">
            <a:avLst/>
          </a:prstGeom>
          <a:noFill/>
          <a:ln/>
        </p:spPr>
        <p:txBody>
          <a:bodyPr wrap="square" lIns="0" tIns="0" rIns="0" bIns="0" rtlCol="0" anchor="ctr"/>
          <a:lstStyle/>
          <a:p>
            <a:pPr indent="0" marL="0">
              <a:buNone/>
            </a:pPr>
            <a:r>
              <a:rPr lang="en-US" sz="1600" dirty="0">
                <a:solidFill>
                  <a:schemeClr val="tx1"/>
                </a:solidFill>
              </a:rPr>
              <a:t>Phone GPS is accurate to about 3–10 m and weakens under cliffs. The system warns about presence, not lane position.</a:t>
            </a:r>
            <a:endParaRPr lang="en-US" sz="1600" dirty="0"/>
          </a:p>
        </p:txBody>
      </p:sp>
      <p:sp>
        <p:nvSpPr>
          <p:cNvPr id="7" name="Text 5"/>
          <p:cNvSpPr txBox="1"/>
          <p:nvPr/>
        </p:nvSpPr>
        <p:spPr>
          <a:xfrm>
            <a:off x="548640" y="3282696"/>
            <a:ext cx="2560320" cy="777240"/>
          </a:xfrm>
          <a:prstGeom prst="rect">
            <a:avLst/>
          </a:prstGeom>
          <a:noFill/>
          <a:ln/>
        </p:spPr>
        <p:txBody>
          <a:bodyPr wrap="square" lIns="0" tIns="0" rIns="0" bIns="0" rtlCol="0" anchor="ctr"/>
          <a:lstStyle/>
          <a:p>
            <a:pPr indent="0" marL="0">
              <a:buNone/>
            </a:pPr>
            <a:r>
              <a:rPr lang="en-US" sz="1800" b="1" dirty="0">
                <a:solidFill>
                  <a:schemeClr val="accent2"/>
                </a:solidFill>
              </a:rPr>
              <a:t>Network gaps</a:t>
            </a:r>
            <a:endParaRPr lang="en-US" sz="1800" dirty="0"/>
          </a:p>
        </p:txBody>
      </p:sp>
      <p:sp>
        <p:nvSpPr>
          <p:cNvPr id="8" name="Text 6"/>
          <p:cNvSpPr txBox="1"/>
          <p:nvPr/>
        </p:nvSpPr>
        <p:spPr>
          <a:xfrm>
            <a:off x="3200400" y="3282696"/>
            <a:ext cx="8412480" cy="777240"/>
          </a:xfrm>
          <a:prstGeom prst="rect">
            <a:avLst/>
          </a:prstGeom>
          <a:noFill/>
          <a:ln/>
        </p:spPr>
        <p:txBody>
          <a:bodyPr wrap="square" lIns="0" tIns="0" rIns="0" bIns="0" rtlCol="0" anchor="ctr"/>
          <a:lstStyle/>
          <a:p>
            <a:pPr indent="0" marL="0">
              <a:buNone/>
            </a:pPr>
            <a:r>
              <a:rPr lang="en-US" sz="1600" dirty="0">
                <a:solidFill>
                  <a:schemeClr val="tx1"/>
                </a:solidFill>
              </a:rPr>
              <a:t>Signal is patchy on ghat roads. Zones stored on the phone and the CCTV path reduce this risk but do not remove it.</a:t>
            </a:r>
            <a:endParaRPr lang="en-US" sz="1600" dirty="0"/>
          </a:p>
        </p:txBody>
      </p:sp>
      <p:sp>
        <p:nvSpPr>
          <p:cNvPr id="9" name="Text 7"/>
          <p:cNvSpPr txBox="1"/>
          <p:nvPr/>
        </p:nvSpPr>
        <p:spPr>
          <a:xfrm>
            <a:off x="548640" y="4215384"/>
            <a:ext cx="2560320" cy="777240"/>
          </a:xfrm>
          <a:prstGeom prst="rect">
            <a:avLst/>
          </a:prstGeom>
          <a:noFill/>
          <a:ln/>
        </p:spPr>
        <p:txBody>
          <a:bodyPr wrap="square" lIns="0" tIns="0" rIns="0" bIns="0" rtlCol="0" anchor="ctr"/>
          <a:lstStyle/>
          <a:p>
            <a:pPr indent="0" marL="0">
              <a:buNone/>
            </a:pPr>
            <a:r>
              <a:rPr lang="en-US" sz="1800" b="1" dirty="0">
                <a:solidFill>
                  <a:schemeClr val="accent2"/>
                </a:solidFill>
              </a:rPr>
              <a:t>Distraction</a:t>
            </a:r>
            <a:endParaRPr lang="en-US" sz="1800" dirty="0"/>
          </a:p>
        </p:txBody>
      </p:sp>
      <p:sp>
        <p:nvSpPr>
          <p:cNvPr id="10" name="Text 8"/>
          <p:cNvSpPr txBox="1"/>
          <p:nvPr/>
        </p:nvSpPr>
        <p:spPr>
          <a:xfrm>
            <a:off x="3200400" y="4215384"/>
            <a:ext cx="8412480" cy="777240"/>
          </a:xfrm>
          <a:prstGeom prst="rect">
            <a:avLst/>
          </a:prstGeom>
          <a:noFill/>
          <a:ln/>
        </p:spPr>
        <p:txBody>
          <a:bodyPr wrap="square" lIns="0" tIns="0" rIns="0" bIns="0" rtlCol="0" anchor="ctr"/>
          <a:lstStyle/>
          <a:p>
            <a:pPr indent="0" marL="0">
              <a:buNone/>
            </a:pPr>
            <a:r>
              <a:rPr lang="en-US" sz="1600" dirty="0">
                <a:solidFill>
                  <a:schemeClr val="tx1"/>
                </a:solidFill>
              </a:rPr>
              <a:t>Alerts are voice-first with a locked, minimal screen while the vehicle is moving.</a:t>
            </a:r>
            <a:endParaRPr lang="en-US" sz="1600" dirty="0"/>
          </a:p>
        </p:txBody>
      </p:sp>
      <p:sp>
        <p:nvSpPr>
          <p:cNvPr id="11" name="Text 9"/>
          <p:cNvSpPr txBox="1"/>
          <p:nvPr/>
        </p:nvSpPr>
        <p:spPr>
          <a:xfrm>
            <a:off x="548640" y="5148072"/>
            <a:ext cx="2560320" cy="777240"/>
          </a:xfrm>
          <a:prstGeom prst="rect">
            <a:avLst/>
          </a:prstGeom>
          <a:noFill/>
          <a:ln/>
        </p:spPr>
        <p:txBody>
          <a:bodyPr wrap="square" lIns="0" tIns="0" rIns="0" bIns="0" rtlCol="0" anchor="ctr"/>
          <a:lstStyle/>
          <a:p>
            <a:pPr indent="0" marL="0">
              <a:buNone/>
            </a:pPr>
            <a:r>
              <a:rPr lang="en-US" sz="1800" b="1" dirty="0">
                <a:solidFill>
                  <a:schemeClr val="accent2"/>
                </a:solidFill>
              </a:rPr>
              <a:t>Not a replacement</a:t>
            </a:r>
            <a:endParaRPr lang="en-US" sz="1800" dirty="0"/>
          </a:p>
        </p:txBody>
      </p:sp>
      <p:sp>
        <p:nvSpPr>
          <p:cNvPr id="12" name="Text 10"/>
          <p:cNvSpPr txBox="1"/>
          <p:nvPr/>
        </p:nvSpPr>
        <p:spPr>
          <a:xfrm>
            <a:off x="3200400" y="5148072"/>
            <a:ext cx="8412480" cy="777240"/>
          </a:xfrm>
          <a:prstGeom prst="rect">
            <a:avLst/>
          </a:prstGeom>
          <a:noFill/>
          <a:ln/>
        </p:spPr>
        <p:txBody>
          <a:bodyPr wrap="square" lIns="0" tIns="0" rIns="0" bIns="0" rtlCol="0" anchor="ctr"/>
          <a:lstStyle/>
          <a:p>
            <a:pPr indent="0" marL="0">
              <a:buNone/>
            </a:pPr>
            <a:r>
              <a:rPr lang="en-US" sz="1600" dirty="0">
                <a:solidFill>
                  <a:schemeClr val="tx1"/>
                </a:solidFill>
              </a:rPr>
              <a:t>Signs, chevrons, mirrors, markings and crash barriers from the road-safety audit stay. GHAT-SAFE adds a layer on top.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7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680960" cy="2011680"/>
          </a:xfrm>
          <a:prstGeom prst="rect">
            <a:avLst/>
          </a:prstGeom>
          <a:noFill/>
          <a:ln/>
        </p:spPr>
        <p:txBody>
          <a:bodyPr wrap="square" lIns="0" tIns="0" rIns="0" bIns="0" rtlCol="0" anchor="b"/>
          <a:lstStyle/>
          <a:p>
            <a:pPr algn="l" indent="0" marL="0">
              <a:buNone/>
            </a:pPr>
            <a:r>
              <a:rPr lang="en-US" sz="5400" b="1" dirty="0">
                <a:solidFill>
                  <a:schemeClr val="bg1"/>
                </a:solidFill>
              </a:rPr>
              <a:t>Safer bends start with earlier warnings</a:t>
            </a:r>
            <a:endParaRPr lang="en-US" sz="5400" dirty="0"/>
          </a:p>
        </p:txBody>
      </p:sp>
      <p:sp>
        <p:nvSpPr>
          <p:cNvPr id="3" name="Text 0"/>
          <p:cNvSpPr/>
          <p:nvPr>
            <p:ph idx="101" type="body" hasCustomPrompt="1"/>
          </p:nvPr>
        </p:nvSpPr>
        <p:spPr>
          <a:xfrm>
            <a:off x="640080" y="3566160"/>
            <a:ext cx="7498080" cy="914400"/>
          </a:xfrm>
          <a:prstGeom prst="rect">
            <a:avLst/>
          </a:prstGeom>
          <a:noFill/>
          <a:ln/>
        </p:spPr>
        <p:txBody>
          <a:bodyPr wrap="square" lIns="0" tIns="0" rIns="0" bIns="0" rtlCol="0" anchor="t"/>
          <a:lstStyle/>
          <a:p>
            <a:pPr algn="l" indent="0" marL="0">
              <a:buNone/>
            </a:pPr>
            <a:r>
              <a:rPr lang="en-US" sz="2200" dirty="0">
                <a:solidFill>
                  <a:schemeClr val="accent1"/>
                </a:solidFill>
              </a:rPr>
              <a:t>Detect early  ·  Warn clearly  ·  Validate safely</a:t>
            </a:r>
            <a:endParaRPr lang="en-US" sz="2200" dirty="0"/>
          </a:p>
        </p:txBody>
      </p:sp>
      <p:sp>
        <p:nvSpPr>
          <p:cNvPr id="4" name="Text 2"/>
          <p:cNvSpPr txBox="1"/>
          <p:nvPr/>
        </p:nvSpPr>
        <p:spPr>
          <a:xfrm>
            <a:off x="640080" y="5120640"/>
            <a:ext cx="10515600" cy="822960"/>
          </a:xfrm>
          <a:prstGeom prst="rect">
            <a:avLst/>
          </a:prstGeom>
          <a:noFill/>
          <a:ln/>
        </p:spPr>
        <p:txBody>
          <a:bodyPr wrap="square" lIns="0" tIns="0" rIns="0" bIns="0" rtlCol="0" anchor="t"/>
          <a:lstStyle/>
          <a:p>
            <a:pPr indent="0" marL="0">
              <a:buNone/>
            </a:pPr>
            <a:r>
              <a:rPr lang="en-US" sz="2000" b="1" dirty="0">
                <a:solidFill>
                  <a:schemeClr val="bg1"/>
                </a:solidFill>
              </a:rPr>
              <a:t>Thank you — questions welcome</a:t>
            </a:r>
            <a:endParaRPr lang="en-US" sz="2000" dirty="0"/>
          </a:p>
          <a:p>
            <a:pPr indent="0" marL="0">
              <a:buNone/>
            </a:pPr>
            <a:r>
              <a:rPr lang="en-US" sz="1500" dirty="0">
                <a:solidFill>
                  <a:schemeClr val="bg2"/>
                </a:solidFill>
              </a:rPr>
              <a:t>Team CE Endeavours · Sunkesula Ameer Besha · Bukke Balu Naik · Maddineni Venkata Siva Narayana</a:t>
            </a:r>
            <a:endParaRPr lang="en-US" sz="2000" dirty="0"/>
          </a:p>
        </p:txBody>
      </p:sp>
      <p:sp>
        <p:nvSpPr>
          <p:cNvPr id="5" name="Warning diamond"/>
          <p:cNvSpPr/>
          <p:nvPr/>
        </p:nvSpPr>
        <p:spPr>
          <a:xfrm rot="2700000">
            <a:off x="8915400" y="1828800"/>
            <a:ext cx="2468880" cy="2468880"/>
          </a:xfrm>
          <a:prstGeom prst="rect">
            <a:avLst/>
          </a:prstGeom>
          <a:solidFill>
            <a:schemeClr val="accent1"/>
          </a:solidFill>
          <a:ln w="76200">
            <a:solidFill>
              <a:schemeClr val="bg1"/>
            </a:solidFill>
            <a:prstDash val="solid"/>
          </a:ln>
        </p:spPr>
      </p:sp>
      <p:pic>
        <p:nvPicPr>
          <p:cNvPr id="6" name="Image 0" descr="Warning sign">    </p:cNvPr>
          <p:cNvPicPr>
            <a:picLocks noChangeAspect="1"/>
          </p:cNvPicPr>
          <p:nvPr/>
        </p:nvPicPr>
        <p:blipFill>
          <a:blip r:embed="rId1"/>
          <a:stretch>
            <a:fillRect/>
          </a:stretch>
        </p:blipFill>
        <p:spPr>
          <a:xfrm>
            <a:off x="9738360" y="2606040"/>
            <a:ext cx="822960" cy="914400"/>
          </a:xfrm>
          <a:prstGeom prst="rect">
            <a:avLst/>
          </a:prstGeom>
        </p:spPr>
      </p:pic>
    </p:spTree>
  </p:cSld>
  <p:clrMapOvr>
    <a:masterClrMapping/>
  </p:clrMapOvr>
</p:sld>
</file>

<file path=ppt/theme/theme1.xml><?xml version="1.0" encoding="utf-8"?>
<a:theme xmlns:a="http://schemas.openxmlformats.org/drawingml/2006/main" name="GHAT-SAFE Road Signage">
  <a:themeElements>
    <a:clrScheme name="GHAT-SAFE Road Signage">
      <a:dk1>
        <a:srgbClr val="1C1F23"/>
      </a:dk1>
      <a:lt1>
        <a:srgbClr val="FFFFFF"/>
      </a:lt1>
      <a:dk2>
        <a:srgbClr val="3A4047"/>
      </a:dk2>
      <a:lt2>
        <a:srgbClr val="EEF0EF"/>
      </a:lt2>
      <a:accent1>
        <a:srgbClr val="F2A900"/>
      </a:accent1>
      <a:accent2>
        <a:srgbClr val="C8233A"/>
      </a:accent2>
      <a:accent3>
        <a:srgbClr val="1E8A4C"/>
      </a:accent3>
      <a:accent4>
        <a:srgbClr val="2D6CB5"/>
      </a:accent4>
      <a:accent5>
        <a:srgbClr val="8A5CC2"/>
      </a:accent5>
      <a:accent6>
        <a:srgbClr val="6B747C"/>
      </a:accent6>
      <a:hlink>
        <a:srgbClr val="2D6CB5"/>
      </a:hlink>
      <a:folHlink>
        <a:srgbClr val="8A5CC2"/>
      </a:folHlink>
    </a:clrScheme>
    <a:fontScheme name="GHAT-SAFE Road Signag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K.S.R.M. College of Engineering (Autonomous), Kadapa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GHAT-SAFE — Team CE Endeavours</dc:title>
  <dc:subject>PptxGenJS Presentation</dc:subject>
  <dc:creator>Team CE Endeavours, Dept. of Civil Engineering, KSRMCE</dc:creator>
  <cp:lastModifiedBy>Team CE Endeavours, Dept. of Civil Engineering, KSRMCE</cp:lastModifiedBy>
  <cp:revision>1</cp:revision>
  <dcterms:created xsi:type="dcterms:W3CDTF">2026-10-24T14:37:14Z</dcterms:created>
  <dcterms:modified xsi:type="dcterms:W3CDTF">2026-10-24T14:37:14Z</dcterms:modified>
</cp:coreProperties>
</file>